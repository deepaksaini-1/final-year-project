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522" y="-14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739" y="13207"/>
            <a:ext cx="320294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202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spc="-25" dirty="0"/>
              <a:t>5.0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202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spc="-25" dirty="0"/>
              <a:t>5.0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spc="-25" dirty="0"/>
              <a:t>5.0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spc="-25" dirty="0"/>
              <a:t>5.0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spc="-25" dirty="0"/>
              <a:t>5.0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914400"/>
          </a:xfrm>
          <a:custGeom>
            <a:avLst/>
            <a:gdLst/>
            <a:ahLst/>
            <a:cxnLst/>
            <a:rect l="l" t="t" r="r" b="b"/>
            <a:pathLst>
              <a:path w="9144000" h="914400">
                <a:moveTo>
                  <a:pt x="91440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0" y="914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701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200" y="12700"/>
            <a:ext cx="4312919" cy="3916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20800" y="1739900"/>
            <a:ext cx="7246620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202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5205" y="6606337"/>
            <a:ext cx="1675765" cy="18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spc="-25" dirty="0"/>
              <a:t>5.0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47" y="6601231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4870" y="1574749"/>
            <a:ext cx="5036398" cy="2208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22754" y="6144564"/>
            <a:ext cx="5123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9535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latin typeface="Calibri"/>
                <a:cs typeface="Calibri"/>
              </a:rPr>
              <a:t>FACULTY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ENGINEERING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COMPUTING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SCIENCES </a:t>
            </a:r>
            <a:r>
              <a:rPr sz="1800" b="1" dirty="0">
                <a:latin typeface="Calibri"/>
                <a:cs typeface="Calibri"/>
              </a:rPr>
              <a:t>TEERTHANKER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MAHAVEER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UNIVERSITY,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MORADABAD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1271" y="4855464"/>
            <a:ext cx="1203960" cy="10850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29400" y="3200400"/>
            <a:ext cx="1402715" cy="5283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76200">
              <a:lnSpc>
                <a:spcPts val="1800"/>
              </a:lnSpc>
              <a:spcBef>
                <a:spcPts val="459"/>
              </a:spcBef>
            </a:pPr>
            <a:r>
              <a:rPr sz="1800" spc="-20" dirty="0">
                <a:solidFill>
                  <a:srgbClr val="202020"/>
                </a:solidFill>
                <a:latin typeface="Calibri"/>
                <a:cs typeface="Calibri"/>
              </a:rPr>
              <a:t>(TCA2256018) </a:t>
            </a:r>
            <a:r>
              <a:rPr lang="en-US" sz="1800" spc="-20" dirty="0" smtClean="0">
                <a:solidFill>
                  <a:srgbClr val="202020"/>
                </a:solidFill>
                <a:latin typeface="Calibri"/>
                <a:cs typeface="Calibri"/>
              </a:rPr>
              <a:t>     </a:t>
            </a:r>
            <a:r>
              <a:rPr sz="1800" spc="-10" dirty="0" smtClean="0">
                <a:solidFill>
                  <a:srgbClr val="202020"/>
                </a:solidFill>
                <a:latin typeface="Calibri"/>
                <a:cs typeface="Calibri"/>
              </a:rPr>
              <a:t>(</a:t>
            </a:r>
            <a:r>
              <a:rPr sz="1800" spc="-10" dirty="0">
                <a:solidFill>
                  <a:srgbClr val="202020"/>
                </a:solidFill>
                <a:latin typeface="Calibri"/>
                <a:cs typeface="Calibri"/>
              </a:rPr>
              <a:t>TCA2256014)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5400" y="3657600"/>
            <a:ext cx="287401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spc="-10" dirty="0">
                <a:solidFill>
                  <a:srgbClr val="202020"/>
                </a:solidFill>
                <a:latin typeface="Calibri"/>
                <a:cs typeface="Calibri"/>
              </a:rPr>
              <a:t>Gaurav</a:t>
            </a:r>
            <a:r>
              <a:rPr sz="1800" spc="-7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202020"/>
                </a:solidFill>
                <a:latin typeface="Calibri"/>
                <a:cs typeface="Calibri"/>
              </a:rPr>
              <a:t>Chaubey </a:t>
            </a:r>
            <a:r>
              <a:rPr sz="1800" spc="-10" dirty="0">
                <a:solidFill>
                  <a:srgbClr val="202020"/>
                </a:solidFill>
                <a:latin typeface="Calibri"/>
                <a:cs typeface="Calibri"/>
              </a:rPr>
              <a:t>(TCA2256025)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1980"/>
              </a:lnSpc>
              <a:tabLst>
                <a:tab pos="1511935" algn="l"/>
              </a:tabLst>
            </a:pPr>
            <a:r>
              <a:rPr sz="1800" spc="-10" dirty="0">
                <a:solidFill>
                  <a:srgbClr val="202020"/>
                </a:solidFill>
                <a:latin typeface="Calibri"/>
                <a:cs typeface="Calibri"/>
              </a:rPr>
              <a:t>Hitesh</a:t>
            </a:r>
            <a:r>
              <a:rPr sz="1800" spc="-7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Calibri"/>
                <a:cs typeface="Calibri"/>
              </a:rPr>
              <a:t>Kumar</a:t>
            </a:r>
            <a:r>
              <a:rPr sz="1800" dirty="0">
                <a:solidFill>
                  <a:srgbClr val="202020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202020"/>
                </a:solidFill>
                <a:latin typeface="Calibri"/>
                <a:cs typeface="Calibri"/>
              </a:rPr>
              <a:t>(TCA2256031)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5400" y="2937368"/>
            <a:ext cx="1676400" cy="78867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0"/>
              </a:spcBef>
            </a:pPr>
            <a:r>
              <a:rPr sz="1400" b="1" dirty="0" smtClean="0">
                <a:solidFill>
                  <a:srgbClr val="0177BD"/>
                </a:solidFill>
                <a:latin typeface="Roboto"/>
                <a:cs typeface="Roboto"/>
              </a:rPr>
              <a:t>SUBMITTED</a:t>
            </a:r>
            <a:r>
              <a:rPr lang="en-US" sz="1400" b="1" spc="75" dirty="0">
                <a:solidFill>
                  <a:srgbClr val="0177BD"/>
                </a:solidFill>
                <a:latin typeface="Roboto"/>
                <a:cs typeface="Roboto"/>
              </a:rPr>
              <a:t> </a:t>
            </a:r>
            <a:r>
              <a:rPr sz="1400" b="1" spc="-25" dirty="0" smtClean="0">
                <a:solidFill>
                  <a:srgbClr val="0177BD"/>
                </a:solidFill>
                <a:latin typeface="Roboto"/>
                <a:cs typeface="Roboto"/>
              </a:rPr>
              <a:t>BY</a:t>
            </a:r>
            <a:r>
              <a:rPr sz="1400" b="1" spc="-25" dirty="0">
                <a:solidFill>
                  <a:srgbClr val="0177BD"/>
                </a:solidFill>
                <a:latin typeface="Roboto"/>
                <a:cs typeface="Roboto"/>
              </a:rPr>
              <a:t>:</a:t>
            </a:r>
            <a:endParaRPr sz="1400" dirty="0">
              <a:latin typeface="Roboto"/>
              <a:cs typeface="Roboto"/>
            </a:endParaRPr>
          </a:p>
          <a:p>
            <a:pPr marL="12700">
              <a:lnSpc>
                <a:spcPts val="1980"/>
              </a:lnSpc>
              <a:spcBef>
                <a:spcPts val="220"/>
              </a:spcBef>
            </a:pPr>
            <a:r>
              <a:rPr sz="1800" dirty="0">
                <a:solidFill>
                  <a:srgbClr val="202020"/>
                </a:solidFill>
                <a:latin typeface="Calibri"/>
                <a:cs typeface="Calibri"/>
              </a:rPr>
              <a:t>Deepak</a:t>
            </a:r>
            <a:r>
              <a:rPr sz="1800" spc="-8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Calibri"/>
                <a:cs typeface="Calibri"/>
              </a:rPr>
              <a:t>saini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1980"/>
              </a:lnSpc>
            </a:pPr>
            <a:r>
              <a:rPr sz="1800" spc="-10" dirty="0">
                <a:solidFill>
                  <a:srgbClr val="202020"/>
                </a:solidFill>
                <a:latin typeface="Calibri"/>
                <a:cs typeface="Calibri"/>
              </a:rPr>
              <a:t>Aryansh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06700" y="291845"/>
            <a:ext cx="366267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Library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Management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System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141726" y="673608"/>
            <a:ext cx="2764790" cy="18440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5920">
              <a:lnSpc>
                <a:spcPts val="2520"/>
              </a:lnSpc>
              <a:spcBef>
                <a:spcPts val="95"/>
              </a:spcBef>
            </a:pPr>
            <a:r>
              <a:rPr sz="2200" b="1" dirty="0">
                <a:latin typeface="Calibri"/>
                <a:cs typeface="Calibri"/>
              </a:rPr>
              <a:t>Project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Presentation</a:t>
            </a:r>
            <a:endParaRPr sz="2200">
              <a:latin typeface="Calibri"/>
              <a:cs typeface="Calibri"/>
            </a:endParaRPr>
          </a:p>
          <a:p>
            <a:pPr marL="642620">
              <a:lnSpc>
                <a:spcPts val="2039"/>
              </a:lnSpc>
            </a:pPr>
            <a:r>
              <a:rPr sz="1800" b="1" dirty="0">
                <a:solidFill>
                  <a:srgbClr val="202020"/>
                </a:solidFill>
                <a:latin typeface="Calibri"/>
                <a:cs typeface="Calibri"/>
              </a:rPr>
              <a:t>Date: </a:t>
            </a:r>
            <a:r>
              <a:rPr sz="1800" b="1" spc="-10" dirty="0">
                <a:solidFill>
                  <a:srgbClr val="202020"/>
                </a:solidFill>
                <a:latin typeface="Calibri"/>
                <a:cs typeface="Calibri"/>
              </a:rPr>
              <a:t>18/04/2025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800">
              <a:latin typeface="Calibri"/>
              <a:cs typeface="Calibri"/>
            </a:endParaRPr>
          </a:p>
          <a:p>
            <a:pPr marL="12700" marR="366395" indent="7620">
              <a:lnSpc>
                <a:spcPct val="100800"/>
              </a:lnSpc>
            </a:pPr>
            <a:r>
              <a:rPr sz="2000" b="1" dirty="0">
                <a:latin typeface="Calibri"/>
                <a:cs typeface="Calibri"/>
              </a:rPr>
              <a:t>Major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Project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</a:t>
            </a:r>
            <a:r>
              <a:rPr sz="2000" b="1" spc="-10" dirty="0">
                <a:latin typeface="Calibri"/>
                <a:cs typeface="Calibri"/>
              </a:rPr>
              <a:t> ICI651) </a:t>
            </a:r>
            <a:r>
              <a:rPr sz="2000" b="1" dirty="0">
                <a:latin typeface="Calibri"/>
                <a:cs typeface="Calibri"/>
              </a:rPr>
              <a:t>Degree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02020"/>
                </a:solidFill>
                <a:latin typeface="Calibri"/>
                <a:cs typeface="Calibri"/>
              </a:rPr>
              <a:t>BCA</a:t>
            </a:r>
            <a:r>
              <a:rPr sz="2000" b="1" spc="-9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02020"/>
                </a:solidFill>
                <a:latin typeface="Calibri"/>
                <a:cs typeface="Calibri"/>
              </a:rPr>
              <a:t>-</a:t>
            </a:r>
            <a:r>
              <a:rPr sz="2000" b="1" spc="-10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202020"/>
                </a:solidFill>
                <a:latin typeface="Calibri"/>
                <a:cs typeface="Calibri"/>
              </a:rPr>
              <a:t>CTIS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5968" y="3599727"/>
            <a:ext cx="130300" cy="1596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90600" y="3200400"/>
            <a:ext cx="2646045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CC"/>
                </a:solidFill>
                <a:latin typeface="Calibri"/>
                <a:cs typeface="Calibri"/>
              </a:rPr>
              <a:t>Project </a:t>
            </a:r>
            <a:r>
              <a:rPr sz="1800" b="1" spc="-10" dirty="0">
                <a:solidFill>
                  <a:srgbClr val="0033CC"/>
                </a:solidFill>
                <a:latin typeface="Calibri"/>
                <a:cs typeface="Calibri"/>
              </a:rPr>
              <a:t>Guide: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1980"/>
              </a:lnSpc>
              <a:spcBef>
                <a:spcPts val="40"/>
              </a:spcBef>
            </a:pPr>
            <a:r>
              <a:rPr lang="en-US" spc="-7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lang="en-US" spc="-745" dirty="0" smtClean="0">
                <a:solidFill>
                  <a:srgbClr val="202020"/>
                </a:solidFill>
                <a:latin typeface="Calibri"/>
                <a:cs typeface="Calibri"/>
              </a:rPr>
              <a:t>   </a:t>
            </a:r>
            <a:r>
              <a:rPr lang="en-US" spc="-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lang="en-US" spc="-5" dirty="0" smtClean="0">
                <a:solidFill>
                  <a:srgbClr val="202020"/>
                </a:solidFill>
                <a:latin typeface="Calibri"/>
                <a:cs typeface="Calibri"/>
              </a:rPr>
              <a:t>Mr.</a:t>
            </a:r>
            <a:r>
              <a:rPr sz="1800" spc="-85" dirty="0" smtClean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02020"/>
                </a:solidFill>
                <a:latin typeface="Calibri"/>
                <a:cs typeface="Calibri"/>
              </a:rPr>
              <a:t>Aatish</a:t>
            </a:r>
            <a:r>
              <a:rPr sz="1800" spc="-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02020"/>
                </a:solidFill>
                <a:latin typeface="Calibri"/>
                <a:cs typeface="Calibri"/>
              </a:rPr>
              <a:t>Kumar</a:t>
            </a:r>
            <a:r>
              <a:rPr sz="1800" spc="-8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800" spc="60" dirty="0" err="1" smtClean="0">
                <a:solidFill>
                  <a:srgbClr val="202020"/>
                </a:solidFill>
                <a:latin typeface="Calibri"/>
                <a:cs typeface="Calibri"/>
              </a:rPr>
              <a:t>B</a:t>
            </a:r>
            <a:r>
              <a:rPr sz="1800" spc="140" dirty="0" err="1" smtClean="0">
                <a:solidFill>
                  <a:srgbClr val="202020"/>
                </a:solidFill>
                <a:latin typeface="Calibri"/>
                <a:cs typeface="Calibri"/>
              </a:rPr>
              <a:t>ai</a:t>
            </a:r>
            <a:r>
              <a:rPr sz="1800" spc="60" dirty="0" err="1" smtClean="0">
                <a:solidFill>
                  <a:srgbClr val="202020"/>
                </a:solidFill>
                <a:latin typeface="Calibri"/>
                <a:cs typeface="Calibri"/>
              </a:rPr>
              <a:t>t</a:t>
            </a:r>
            <a:r>
              <a:rPr sz="1800" spc="65" dirty="0" err="1" smtClean="0">
                <a:solidFill>
                  <a:srgbClr val="202020"/>
                </a:solidFill>
                <a:latin typeface="Calibri"/>
                <a:cs typeface="Calibri"/>
              </a:rPr>
              <a:t>h</a:t>
            </a:r>
            <a:r>
              <a:rPr sz="2250" spc="-1027" baseline="1851" dirty="0" err="1" smtClean="0">
                <a:latin typeface="Arial MT"/>
                <a:cs typeface="Arial MT"/>
              </a:rPr>
              <a:t>a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1980"/>
              </a:lnSpc>
            </a:pPr>
            <a:r>
              <a:rPr lang="en-US" spc="-745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lang="en-US" spc="-745" dirty="0" smtClean="0">
                <a:solidFill>
                  <a:srgbClr val="202020"/>
                </a:solidFill>
                <a:latin typeface="Calibri"/>
                <a:cs typeface="Calibri"/>
              </a:rPr>
              <a:t>   </a:t>
            </a:r>
            <a:r>
              <a:rPr lang="en-US" spc="-2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lang="en-US" spc="-20" dirty="0" smtClean="0">
                <a:solidFill>
                  <a:srgbClr val="202020"/>
                </a:solidFill>
                <a:latin typeface="Calibri"/>
                <a:cs typeface="Calibri"/>
              </a:rPr>
              <a:t>Mr. </a:t>
            </a:r>
            <a:r>
              <a:rPr lang="en-US" spc="-20" dirty="0" err="1" smtClean="0">
                <a:solidFill>
                  <a:srgbClr val="202020"/>
                </a:solidFill>
                <a:latin typeface="Calibri"/>
                <a:cs typeface="Calibri"/>
              </a:rPr>
              <a:t>U</a:t>
            </a:r>
            <a:r>
              <a:rPr sz="1800" spc="-20" dirty="0" err="1" smtClean="0">
                <a:solidFill>
                  <a:srgbClr val="202020"/>
                </a:solidFill>
                <a:latin typeface="Calibri"/>
                <a:cs typeface="Calibri"/>
              </a:rPr>
              <a:t>mesh</a:t>
            </a:r>
            <a:r>
              <a:rPr sz="1800" spc="-85" dirty="0" smtClean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02020"/>
                </a:solidFill>
                <a:latin typeface="Calibri"/>
                <a:cs typeface="Calibri"/>
              </a:rPr>
              <a:t>Chandra</a:t>
            </a:r>
            <a:r>
              <a:rPr sz="1800" spc="-50" dirty="0">
                <a:solidFill>
                  <a:srgbClr val="20202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02020"/>
                </a:solidFill>
                <a:latin typeface="Calibri"/>
                <a:cs typeface="Calibri"/>
              </a:rPr>
              <a:t>Garjola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Team</a:t>
            </a:r>
            <a:r>
              <a:rPr spc="-100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164579"/>
            <a:ext cx="9144000" cy="693420"/>
          </a:xfrm>
          <a:custGeom>
            <a:avLst/>
            <a:gdLst/>
            <a:ahLst/>
            <a:cxnLst/>
            <a:rect l="l" t="t" r="r" b="b"/>
            <a:pathLst>
              <a:path w="9144000" h="693420">
                <a:moveTo>
                  <a:pt x="9144000" y="0"/>
                </a:moveTo>
                <a:lnTo>
                  <a:pt x="0" y="0"/>
                </a:lnTo>
                <a:lnTo>
                  <a:pt x="0" y="693420"/>
                </a:lnTo>
                <a:lnTo>
                  <a:pt x="9144000" y="693420"/>
                </a:lnTo>
                <a:lnTo>
                  <a:pt x="9144000" y="0"/>
                </a:lnTo>
                <a:close/>
              </a:path>
            </a:pathLst>
          </a:custGeom>
          <a:solidFill>
            <a:srgbClr val="701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3528"/>
            <a:ext cx="2953511" cy="685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26489" y="6320739"/>
            <a:ext cx="4714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Guidelines:</a:t>
            </a:r>
            <a:r>
              <a:rPr sz="1600" b="1" i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Mention</a:t>
            </a:r>
            <a:r>
              <a:rPr sz="1600" b="1" i="1" spc="-20" dirty="0">
                <a:solidFill>
                  <a:srgbClr val="FFFF00"/>
                </a:solidFill>
                <a:latin typeface="Calibri"/>
                <a:cs typeface="Calibri"/>
              </a:rPr>
              <a:t> Team</a:t>
            </a:r>
            <a:r>
              <a:rPr sz="1600" b="1" i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Names</a:t>
            </a:r>
            <a:r>
              <a:rPr sz="1600" b="1" i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&amp;</a:t>
            </a:r>
            <a:r>
              <a:rPr sz="1600" b="1" i="1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their</a:t>
            </a:r>
            <a:r>
              <a:rPr sz="1600" b="1" i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role</a:t>
            </a:r>
            <a:r>
              <a:rPr sz="1600" b="1" i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in</a:t>
            </a:r>
            <a:r>
              <a:rPr sz="1600" b="1" i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FFFF00"/>
                </a:solidFill>
                <a:latin typeface="Calibri"/>
                <a:cs typeface="Calibri"/>
              </a:rPr>
              <a:t>project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847" y="6601231"/>
            <a:ext cx="1028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7355205" y="6606337"/>
            <a:ext cx="178879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lang="en-US" spc="-25" dirty="0" smtClean="0"/>
              <a:t>2.3.0</a:t>
            </a:r>
            <a:endParaRPr spc="-25" dirty="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80530" y="1366266"/>
          <a:ext cx="8360410" cy="1812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76925"/>
                <a:gridCol w="2204720"/>
                <a:gridCol w="278765"/>
              </a:tblGrid>
              <a:tr h="512445">
                <a:tc>
                  <a:txBody>
                    <a:bodyPr/>
                    <a:lstStyle/>
                    <a:p>
                      <a:pPr marL="1270" algn="ctr">
                        <a:lnSpc>
                          <a:spcPts val="231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Student</a:t>
                      </a:r>
                      <a:r>
                        <a:rPr sz="20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Name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05" algn="ctr">
                        <a:lnSpc>
                          <a:spcPts val="2310"/>
                        </a:lnSpc>
                      </a:pPr>
                      <a:r>
                        <a:rPr sz="2000" b="1" spc="-20" dirty="0">
                          <a:latin typeface="Calibri"/>
                          <a:cs typeface="Calibri"/>
                        </a:rPr>
                        <a:t>Role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28930">
                <a:tc rowSpan="2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100" b="1" dirty="0">
                          <a:solidFill>
                            <a:srgbClr val="202020"/>
                          </a:solidFill>
                          <a:latin typeface="Arial"/>
                          <a:cs typeface="Arial"/>
                        </a:rPr>
                        <a:t>Deepak </a:t>
                      </a:r>
                      <a:r>
                        <a:rPr sz="2100" b="1" spc="-10" dirty="0">
                          <a:solidFill>
                            <a:srgbClr val="202020"/>
                          </a:solidFill>
                          <a:latin typeface="Arial"/>
                          <a:cs typeface="Arial"/>
                        </a:rPr>
                        <a:t>saini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19050">
                      <a:solidFill>
                        <a:srgbClr val="F79546"/>
                      </a:solidFill>
                      <a:prstDash val="solid"/>
                    </a:lnB>
                    <a:solidFill>
                      <a:srgbClr val="F7954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400" b="1" spc="-10" dirty="0">
                          <a:solidFill>
                            <a:srgbClr val="202020"/>
                          </a:solidFill>
                          <a:latin typeface="Roboto"/>
                          <a:cs typeface="Roboto"/>
                        </a:rPr>
                        <a:t>Developer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F79546"/>
                      </a:solidFill>
                      <a:prstDash val="solid"/>
                    </a:lnL>
                    <a:lnT w="28575">
                      <a:solidFill>
                        <a:srgbClr val="F79546"/>
                      </a:solidFill>
                      <a:prstDash val="solid"/>
                    </a:lnT>
                    <a:solidFill>
                      <a:srgbClr val="FDEA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solidFill>
                      <a:srgbClr val="F79546">
                        <a:alpha val="19999"/>
                      </a:srgbClr>
                    </a:solidFill>
                  </a:tcPr>
                </a:tc>
              </a:tr>
              <a:tr h="977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19050">
                      <a:solidFill>
                        <a:srgbClr val="F79546"/>
                      </a:solidFill>
                      <a:prstDash val="solid"/>
                    </a:lnB>
                    <a:solidFill>
                      <a:srgbClr val="F79546">
                        <a:alpha val="1999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79546">
                        <a:alpha val="199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0195">
                <a:tc>
                  <a:txBody>
                    <a:bodyPr/>
                    <a:lstStyle/>
                    <a:p>
                      <a:pPr marL="44450">
                        <a:lnSpc>
                          <a:spcPts val="2190"/>
                        </a:lnSpc>
                      </a:pPr>
                      <a:r>
                        <a:rPr sz="2100" b="1" dirty="0">
                          <a:solidFill>
                            <a:srgbClr val="202020"/>
                          </a:solidFill>
                          <a:latin typeface="Arial"/>
                          <a:cs typeface="Arial"/>
                        </a:rPr>
                        <a:t>Gaurav </a:t>
                      </a:r>
                      <a:r>
                        <a:rPr sz="2100" b="1" spc="-10" dirty="0">
                          <a:solidFill>
                            <a:srgbClr val="202020"/>
                          </a:solidFill>
                          <a:latin typeface="Arial"/>
                          <a:cs typeface="Arial"/>
                        </a:rPr>
                        <a:t>Chaubey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9050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b="1" spc="-10" dirty="0">
                          <a:solidFill>
                            <a:srgbClr val="202020"/>
                          </a:solidFill>
                          <a:latin typeface="Roboto"/>
                          <a:cs typeface="Roboto"/>
                        </a:rPr>
                        <a:t>Testing/Quality</a:t>
                      </a:r>
                      <a:r>
                        <a:rPr sz="1400" b="1" spc="50" dirty="0">
                          <a:solidFill>
                            <a:srgbClr val="20202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02020"/>
                          </a:solidFill>
                          <a:latin typeface="Roboto"/>
                          <a:cs typeface="Roboto"/>
                        </a:rPr>
                        <a:t>Assurance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88290">
                <a:tc>
                  <a:txBody>
                    <a:bodyPr/>
                    <a:lstStyle/>
                    <a:p>
                      <a:pPr marL="107950">
                        <a:lnSpc>
                          <a:spcPts val="2120"/>
                        </a:lnSpc>
                      </a:pPr>
                      <a:r>
                        <a:rPr sz="2100" b="1" spc="-10" dirty="0">
                          <a:solidFill>
                            <a:srgbClr val="202020"/>
                          </a:solidFill>
                          <a:latin typeface="Arial"/>
                          <a:cs typeface="Arial"/>
                        </a:rPr>
                        <a:t>Aryansh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  <a:solidFill>
                      <a:srgbClr val="F79546">
                        <a:alpha val="1999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400" b="1" dirty="0">
                          <a:solidFill>
                            <a:srgbClr val="202020"/>
                          </a:solidFill>
                          <a:latin typeface="Roboto"/>
                          <a:cs typeface="Roboto"/>
                        </a:rPr>
                        <a:t>Database</a:t>
                      </a:r>
                      <a:r>
                        <a:rPr sz="1400" b="1" spc="-60" dirty="0">
                          <a:solidFill>
                            <a:srgbClr val="20202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02020"/>
                          </a:solidFill>
                          <a:latin typeface="Roboto"/>
                          <a:cs typeface="Roboto"/>
                        </a:rPr>
                        <a:t>Administrator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24765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9050">
                      <a:solidFill>
                        <a:srgbClr val="F79546"/>
                      </a:solidFill>
                      <a:prstDash val="solid"/>
                    </a:lnB>
                    <a:solidFill>
                      <a:srgbClr val="F79546">
                        <a:alpha val="199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5275">
                <a:tc>
                  <a:txBody>
                    <a:bodyPr/>
                    <a:lstStyle/>
                    <a:p>
                      <a:pPr marL="69850">
                        <a:lnSpc>
                          <a:spcPts val="2225"/>
                        </a:lnSpc>
                      </a:pPr>
                      <a:r>
                        <a:rPr sz="2100" b="1" dirty="0">
                          <a:solidFill>
                            <a:srgbClr val="202020"/>
                          </a:solidFill>
                          <a:latin typeface="Arial"/>
                          <a:cs typeface="Arial"/>
                        </a:rPr>
                        <a:t>Hitesh </a:t>
                      </a:r>
                      <a:r>
                        <a:rPr sz="2100" b="1" spc="-10" dirty="0">
                          <a:solidFill>
                            <a:srgbClr val="202020"/>
                          </a:solidFill>
                          <a:latin typeface="Arial"/>
                          <a:cs typeface="Arial"/>
                        </a:rPr>
                        <a:t>Kumar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F47F17"/>
                      </a:solidFill>
                      <a:prstDash val="solid"/>
                    </a:lnL>
                    <a:lnR w="19050">
                      <a:solidFill>
                        <a:srgbClr val="B61B1B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9525">
                      <a:solidFill>
                        <a:srgbClr val="F47F1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400" b="1" spc="-10" dirty="0">
                          <a:solidFill>
                            <a:srgbClr val="202020"/>
                          </a:solidFill>
                          <a:latin typeface="Roboto"/>
                          <a:cs typeface="Roboto"/>
                        </a:rPr>
                        <a:t>Maintainer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28575" marB="0">
                    <a:lnL w="19050">
                      <a:solidFill>
                        <a:srgbClr val="B61B1B"/>
                      </a:solidFill>
                      <a:prstDash val="solid"/>
                    </a:lnL>
                    <a:lnR w="9525">
                      <a:solidFill>
                        <a:srgbClr val="F47F17"/>
                      </a:solidFill>
                      <a:prstDash val="solid"/>
                    </a:lnR>
                    <a:lnT w="19050">
                      <a:solidFill>
                        <a:srgbClr val="F79546"/>
                      </a:solidFill>
                      <a:prstDash val="solid"/>
                    </a:lnT>
                    <a:lnB w="9525">
                      <a:solidFill>
                        <a:srgbClr val="F47F1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105" dirty="0"/>
              <a:t> </a:t>
            </a:r>
            <a:r>
              <a:rPr spc="-20" dirty="0"/>
              <a:t>Brief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164579"/>
            <a:ext cx="9144000" cy="693420"/>
          </a:xfrm>
          <a:custGeom>
            <a:avLst/>
            <a:gdLst/>
            <a:ahLst/>
            <a:cxnLst/>
            <a:rect l="l" t="t" r="r" b="b"/>
            <a:pathLst>
              <a:path w="9144000" h="693420">
                <a:moveTo>
                  <a:pt x="9144000" y="0"/>
                </a:moveTo>
                <a:lnTo>
                  <a:pt x="0" y="0"/>
                </a:lnTo>
                <a:lnTo>
                  <a:pt x="0" y="693420"/>
                </a:lnTo>
                <a:lnTo>
                  <a:pt x="9144000" y="693420"/>
                </a:lnTo>
                <a:lnTo>
                  <a:pt x="9144000" y="0"/>
                </a:lnTo>
                <a:close/>
              </a:path>
            </a:pathLst>
          </a:custGeom>
          <a:solidFill>
            <a:srgbClr val="701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3528"/>
            <a:ext cx="2953511" cy="685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26489" y="6320739"/>
            <a:ext cx="6026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Guidelines:</a:t>
            </a:r>
            <a:r>
              <a:rPr sz="1600" b="1" i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Mention</a:t>
            </a:r>
            <a:r>
              <a:rPr sz="1600" b="1" i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brief</a:t>
            </a:r>
            <a:r>
              <a:rPr sz="1600" b="1" i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about</a:t>
            </a:r>
            <a:r>
              <a:rPr sz="1600" b="1" i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1600" b="1" i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project</a:t>
            </a:r>
            <a:r>
              <a:rPr sz="1600" b="1" i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and</a:t>
            </a:r>
            <a:r>
              <a:rPr sz="1600" b="1" i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it’s</a:t>
            </a:r>
            <a:r>
              <a:rPr sz="1600" b="1" i="1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functions/</a:t>
            </a:r>
            <a:r>
              <a:rPr sz="1600" b="1" i="1" spc="-10" dirty="0">
                <a:solidFill>
                  <a:srgbClr val="FFFF00"/>
                </a:solidFill>
                <a:latin typeface="Calibri"/>
                <a:cs typeface="Calibri"/>
              </a:rPr>
              <a:t> modules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3</a:t>
            </a:fld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7355205" y="6606337"/>
            <a:ext cx="178879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lang="en-US" spc="-25" dirty="0" smtClean="0"/>
              <a:t>2.3</a:t>
            </a:r>
            <a:r>
              <a:rPr spc="-25" dirty="0" smtClean="0"/>
              <a:t>.0</a:t>
            </a:r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95300" y="1524000"/>
            <a:ext cx="7597140" cy="223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4500"/>
              </a:lnSpc>
              <a:spcBef>
                <a:spcPts val="100"/>
              </a:spcBef>
              <a:tabLst>
                <a:tab pos="443865" algn="l"/>
              </a:tabLst>
            </a:pPr>
            <a:r>
              <a:rPr sz="4000" b="1" spc="-50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4000" b="1" dirty="0">
                <a:solidFill>
                  <a:srgbClr val="202020"/>
                </a:solidFill>
                <a:latin typeface="Arial"/>
                <a:cs typeface="Arial"/>
              </a:rPr>
              <a:t>	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A Python-Tkinter-based Library Management </a:t>
            </a:r>
            <a:r>
              <a:rPr sz="2100" b="1" spc="-10" dirty="0">
                <a:solidFill>
                  <a:srgbClr val="202020"/>
                </a:solidFill>
                <a:latin typeface="Arial"/>
                <a:cs typeface="Arial"/>
              </a:rPr>
              <a:t>System</a:t>
            </a:r>
            <a:endParaRPr sz="2100">
              <a:latin typeface="Arial"/>
              <a:cs typeface="Arial"/>
            </a:endParaRPr>
          </a:p>
          <a:p>
            <a:pPr marL="38100">
              <a:lnSpc>
                <a:spcPts val="4200"/>
              </a:lnSpc>
              <a:tabLst>
                <a:tab pos="443865" algn="l"/>
              </a:tabLst>
            </a:pPr>
            <a:r>
              <a:rPr sz="6000" b="1" spc="-75" baseline="2777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6000" b="1" baseline="2777" dirty="0">
                <a:solidFill>
                  <a:srgbClr val="202020"/>
                </a:solidFill>
                <a:latin typeface="Arial"/>
                <a:cs typeface="Arial"/>
              </a:rPr>
              <a:t>	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Manages</a:t>
            </a:r>
            <a:r>
              <a:rPr sz="2100" b="1" spc="-1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library</a:t>
            </a:r>
            <a:r>
              <a:rPr sz="2100" b="1" spc="-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tasks:</a:t>
            </a:r>
            <a:r>
              <a:rPr sz="2100" b="1" spc="-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Add,</a:t>
            </a:r>
            <a:r>
              <a:rPr sz="2100" b="1" spc="-1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Delete,</a:t>
            </a:r>
            <a:r>
              <a:rPr sz="2100" b="1" spc="-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Issue,</a:t>
            </a:r>
            <a:r>
              <a:rPr sz="2100" b="1" spc="-1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Return</a:t>
            </a:r>
            <a:r>
              <a:rPr sz="2100" b="1" spc="-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202020"/>
                </a:solidFill>
                <a:latin typeface="Arial"/>
                <a:cs typeface="Arial"/>
              </a:rPr>
              <a:t>books</a:t>
            </a:r>
            <a:endParaRPr sz="2100">
              <a:latin typeface="Arial"/>
              <a:cs typeface="Arial"/>
            </a:endParaRPr>
          </a:p>
          <a:p>
            <a:pPr marL="38100">
              <a:lnSpc>
                <a:spcPts val="4200"/>
              </a:lnSpc>
              <a:tabLst>
                <a:tab pos="443865" algn="l"/>
              </a:tabLst>
            </a:pPr>
            <a:r>
              <a:rPr sz="6000" b="1" spc="-75" baseline="5555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6000" b="1" baseline="5555" dirty="0">
                <a:solidFill>
                  <a:srgbClr val="202020"/>
                </a:solidFill>
                <a:latin typeface="Arial"/>
                <a:cs typeface="Arial"/>
              </a:rPr>
              <a:t>	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Stores</a:t>
            </a:r>
            <a:r>
              <a:rPr sz="2100" b="1" spc="-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transaction</a:t>
            </a:r>
            <a:r>
              <a:rPr sz="2100" b="1" spc="-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records</a:t>
            </a:r>
            <a:r>
              <a:rPr sz="2100" b="1" spc="-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in</a:t>
            </a:r>
            <a:r>
              <a:rPr sz="2100" b="1" spc="-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a</a:t>
            </a:r>
            <a:r>
              <a:rPr sz="2100" b="1" spc="-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local</a:t>
            </a:r>
            <a:r>
              <a:rPr sz="2100" b="1" spc="-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SQLite</a:t>
            </a:r>
            <a:r>
              <a:rPr sz="2100" b="1" spc="-1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202020"/>
                </a:solidFill>
                <a:latin typeface="Arial"/>
                <a:cs typeface="Arial"/>
              </a:rPr>
              <a:t>database</a:t>
            </a:r>
            <a:endParaRPr sz="2100">
              <a:latin typeface="Arial"/>
              <a:cs typeface="Arial"/>
            </a:endParaRPr>
          </a:p>
          <a:p>
            <a:pPr marL="38100">
              <a:lnSpc>
                <a:spcPts val="4500"/>
              </a:lnSpc>
              <a:tabLst>
                <a:tab pos="443865" algn="l"/>
              </a:tabLst>
            </a:pPr>
            <a:r>
              <a:rPr sz="6000" b="1" spc="-75" baseline="8333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6000" b="1" baseline="8333" dirty="0">
                <a:solidFill>
                  <a:srgbClr val="202020"/>
                </a:solidFill>
                <a:latin typeface="Arial"/>
                <a:cs typeface="Arial"/>
              </a:rPr>
              <a:t>	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GUI</a:t>
            </a:r>
            <a:r>
              <a:rPr sz="2100" b="1" spc="-4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simplifies</a:t>
            </a:r>
            <a:r>
              <a:rPr sz="2100" b="1" spc="-4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operations</a:t>
            </a:r>
            <a:r>
              <a:rPr sz="2100" b="1" spc="-4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202020"/>
                </a:solidFill>
                <a:latin typeface="Arial"/>
                <a:cs typeface="Arial"/>
              </a:rPr>
              <a:t>for</a:t>
            </a:r>
            <a:r>
              <a:rPr sz="2100" b="1" spc="-4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202020"/>
                </a:solidFill>
                <a:latin typeface="Arial"/>
                <a:cs typeface="Arial"/>
              </a:rPr>
              <a:t>librarians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3207"/>
            <a:ext cx="6006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Methodologies/</a:t>
            </a:r>
            <a:r>
              <a:rPr sz="24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Technologies/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30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r>
              <a:rPr sz="24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4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164579"/>
            <a:ext cx="9144000" cy="693420"/>
          </a:xfrm>
          <a:custGeom>
            <a:avLst/>
            <a:gdLst/>
            <a:ahLst/>
            <a:cxnLst/>
            <a:rect l="l" t="t" r="r" b="b"/>
            <a:pathLst>
              <a:path w="9144000" h="693420">
                <a:moveTo>
                  <a:pt x="9144000" y="0"/>
                </a:moveTo>
                <a:lnTo>
                  <a:pt x="0" y="0"/>
                </a:lnTo>
                <a:lnTo>
                  <a:pt x="0" y="693420"/>
                </a:lnTo>
                <a:lnTo>
                  <a:pt x="9144000" y="693420"/>
                </a:lnTo>
                <a:lnTo>
                  <a:pt x="9144000" y="0"/>
                </a:lnTo>
                <a:close/>
              </a:path>
            </a:pathLst>
          </a:custGeom>
          <a:solidFill>
            <a:srgbClr val="701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3528"/>
            <a:ext cx="2953511" cy="685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4500" y="1092200"/>
            <a:ext cx="5620385" cy="157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100"/>
              </a:lnSpc>
              <a:spcBef>
                <a:spcPts val="100"/>
              </a:spcBef>
            </a:pPr>
            <a:r>
              <a:rPr sz="8250" baseline="4040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8250" spc="209" baseline="404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02020"/>
                </a:solidFill>
                <a:latin typeface="Arial"/>
                <a:cs typeface="Arial"/>
              </a:rPr>
              <a:t>Language:</a:t>
            </a:r>
            <a:r>
              <a:rPr sz="2800" spc="-4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Arial"/>
                <a:cs typeface="Arial"/>
              </a:rPr>
              <a:t>Python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6100"/>
              </a:lnSpc>
            </a:pPr>
            <a:r>
              <a:rPr sz="8250" baseline="5050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8250" spc="172" baseline="505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02020"/>
                </a:solidFill>
                <a:latin typeface="Arial"/>
                <a:cs typeface="Arial"/>
              </a:rPr>
              <a:t>Frontend:</a:t>
            </a:r>
            <a:r>
              <a:rPr sz="2800" spc="-5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02020"/>
                </a:solidFill>
                <a:latin typeface="Arial"/>
                <a:cs typeface="Arial"/>
              </a:rPr>
              <a:t>Tkinter</a:t>
            </a:r>
            <a:r>
              <a:rPr sz="2800" spc="-5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02020"/>
                </a:solidFill>
                <a:latin typeface="Arial"/>
                <a:cs typeface="Arial"/>
              </a:rPr>
              <a:t>(GUI</a:t>
            </a:r>
            <a:r>
              <a:rPr sz="2800" spc="-5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02020"/>
                </a:solidFill>
                <a:latin typeface="Arial"/>
                <a:cs typeface="Arial"/>
              </a:rPr>
              <a:t>Toolkit)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1800" y="2514600"/>
            <a:ext cx="7661275" cy="2573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6100"/>
              </a:lnSpc>
              <a:spcBef>
                <a:spcPts val="100"/>
              </a:spcBef>
            </a:pPr>
            <a:r>
              <a:rPr sz="8250" b="1" baseline="6060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8250" b="1" spc="217" baseline="606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020"/>
                </a:solidFill>
                <a:latin typeface="Arial"/>
                <a:cs typeface="Arial"/>
              </a:rPr>
              <a:t>Database:</a:t>
            </a:r>
            <a:r>
              <a:rPr sz="2800" b="1" spc="-4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02020"/>
                </a:solidFill>
                <a:latin typeface="Arial"/>
                <a:cs typeface="Arial"/>
              </a:rPr>
              <a:t>SQLite</a:t>
            </a:r>
            <a:endParaRPr sz="2800" dirty="0">
              <a:latin typeface="Arial"/>
              <a:cs typeface="Arial"/>
            </a:endParaRPr>
          </a:p>
          <a:p>
            <a:pPr marL="25400">
              <a:lnSpc>
                <a:spcPts val="5600"/>
              </a:lnSpc>
            </a:pPr>
            <a:r>
              <a:rPr sz="8250" b="1" baseline="7070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8250" b="1" spc="315" baseline="707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020"/>
                </a:solidFill>
                <a:latin typeface="Arial"/>
                <a:cs typeface="Arial"/>
              </a:rPr>
              <a:t>IDE:</a:t>
            </a:r>
            <a:r>
              <a:rPr sz="2800" b="1" spc="-1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020"/>
                </a:solidFill>
                <a:latin typeface="Arial"/>
                <a:cs typeface="Arial"/>
              </a:rPr>
              <a:t>VS</a:t>
            </a:r>
            <a:r>
              <a:rPr sz="2800" b="1" spc="-1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b="1" dirty="0" smtClean="0">
                <a:solidFill>
                  <a:srgbClr val="202020"/>
                </a:solidFill>
                <a:latin typeface="Arial"/>
                <a:cs typeface="Arial"/>
              </a:rPr>
              <a:t>Code</a:t>
            </a:r>
            <a:endParaRPr sz="2800" dirty="0">
              <a:latin typeface="Arial"/>
              <a:cs typeface="Arial"/>
            </a:endParaRPr>
          </a:p>
          <a:p>
            <a:pPr marL="25400">
              <a:lnSpc>
                <a:spcPts val="5550"/>
              </a:lnSpc>
            </a:pPr>
            <a:r>
              <a:rPr sz="8250" b="1" baseline="8080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8250" b="1" spc="142" baseline="808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020"/>
                </a:solidFill>
                <a:latin typeface="Arial"/>
                <a:cs typeface="Arial"/>
              </a:rPr>
              <a:t>Structure:</a:t>
            </a:r>
            <a:r>
              <a:rPr sz="2800" b="1" spc="-6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020"/>
                </a:solidFill>
                <a:latin typeface="Arial"/>
                <a:cs typeface="Arial"/>
              </a:rPr>
              <a:t>Modular</a:t>
            </a:r>
            <a:r>
              <a:rPr sz="2800" b="1" spc="-6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020"/>
                </a:solidFill>
                <a:latin typeface="Arial"/>
                <a:cs typeface="Arial"/>
              </a:rPr>
              <a:t>Python</a:t>
            </a:r>
            <a:r>
              <a:rPr sz="2800" b="1" spc="-6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020"/>
                </a:solidFill>
                <a:latin typeface="Arial"/>
                <a:cs typeface="Arial"/>
              </a:rPr>
              <a:t>files</a:t>
            </a:r>
            <a:r>
              <a:rPr sz="2800" b="1" spc="-6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02020"/>
                </a:solidFill>
                <a:latin typeface="Arial"/>
                <a:cs typeface="Arial"/>
              </a:rPr>
              <a:t>(AddBook,</a:t>
            </a:r>
            <a:endParaRPr sz="2800" dirty="0">
              <a:latin typeface="Arial"/>
              <a:cs typeface="Arial"/>
            </a:endParaRPr>
          </a:p>
          <a:p>
            <a:pPr marR="282575" algn="ctr">
              <a:lnSpc>
                <a:spcPts val="2810"/>
              </a:lnSpc>
            </a:pPr>
            <a:r>
              <a:rPr sz="2800" b="1" dirty="0">
                <a:solidFill>
                  <a:srgbClr val="202020"/>
                </a:solidFill>
                <a:latin typeface="Arial"/>
                <a:cs typeface="Arial"/>
              </a:rPr>
              <a:t>IssueBook,</a:t>
            </a:r>
            <a:r>
              <a:rPr sz="2800" b="1" spc="-15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02020"/>
                </a:solidFill>
                <a:latin typeface="Arial"/>
                <a:cs typeface="Arial"/>
              </a:rPr>
              <a:t>etc.)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4</a:t>
            </a:fld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7355205" y="6606337"/>
            <a:ext cx="186499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lang="en-US" spc="-25" dirty="0" smtClean="0"/>
              <a:t>2.3</a:t>
            </a:r>
            <a:r>
              <a:rPr spc="-25" dirty="0" smtClean="0"/>
              <a:t>.0</a:t>
            </a:r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Context</a:t>
            </a:r>
            <a:r>
              <a:rPr spc="-85" dirty="0"/>
              <a:t> </a:t>
            </a:r>
            <a:r>
              <a:rPr dirty="0"/>
              <a:t>Diagram</a:t>
            </a:r>
            <a:r>
              <a:rPr spc="-95" dirty="0"/>
              <a:t> </a:t>
            </a:r>
            <a:r>
              <a:rPr spc="-10" dirty="0"/>
              <a:t>(Overall</a:t>
            </a:r>
            <a:r>
              <a:rPr spc="-85" dirty="0"/>
              <a:t> </a:t>
            </a:r>
            <a:r>
              <a:rPr spc="-10" dirty="0"/>
              <a:t>Project)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164579"/>
            <a:ext cx="9144000" cy="693420"/>
          </a:xfrm>
          <a:custGeom>
            <a:avLst/>
            <a:gdLst/>
            <a:ahLst/>
            <a:cxnLst/>
            <a:rect l="l" t="t" r="r" b="b"/>
            <a:pathLst>
              <a:path w="9144000" h="693420">
                <a:moveTo>
                  <a:pt x="9144000" y="0"/>
                </a:moveTo>
                <a:lnTo>
                  <a:pt x="0" y="0"/>
                </a:lnTo>
                <a:lnTo>
                  <a:pt x="0" y="693420"/>
                </a:lnTo>
                <a:lnTo>
                  <a:pt x="9144000" y="693420"/>
                </a:lnTo>
                <a:lnTo>
                  <a:pt x="9144000" y="0"/>
                </a:lnTo>
                <a:close/>
              </a:path>
            </a:pathLst>
          </a:custGeom>
          <a:solidFill>
            <a:srgbClr val="701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3528"/>
            <a:ext cx="2953511" cy="6858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632200" y="2582791"/>
            <a:ext cx="1574800" cy="1519555"/>
          </a:xfrm>
          <a:custGeom>
            <a:avLst/>
            <a:gdLst/>
            <a:ahLst/>
            <a:cxnLst/>
            <a:rect l="l" t="t" r="r" b="b"/>
            <a:pathLst>
              <a:path w="1574800" h="1519554">
                <a:moveTo>
                  <a:pt x="0" y="759653"/>
                </a:moveTo>
                <a:lnTo>
                  <a:pt x="1548" y="807695"/>
                </a:lnTo>
                <a:lnTo>
                  <a:pt x="6134" y="854943"/>
                </a:lnTo>
                <a:lnTo>
                  <a:pt x="13663" y="901307"/>
                </a:lnTo>
                <a:lnTo>
                  <a:pt x="24045" y="946700"/>
                </a:lnTo>
                <a:lnTo>
                  <a:pt x="37186" y="991032"/>
                </a:lnTo>
                <a:lnTo>
                  <a:pt x="52995" y="1034213"/>
                </a:lnTo>
                <a:lnTo>
                  <a:pt x="71379" y="1076156"/>
                </a:lnTo>
                <a:lnTo>
                  <a:pt x="92246" y="1116771"/>
                </a:lnTo>
                <a:lnTo>
                  <a:pt x="115504" y="1155968"/>
                </a:lnTo>
                <a:lnTo>
                  <a:pt x="141060" y="1193660"/>
                </a:lnTo>
                <a:lnTo>
                  <a:pt x="168823" y="1229757"/>
                </a:lnTo>
                <a:lnTo>
                  <a:pt x="198700" y="1264170"/>
                </a:lnTo>
                <a:lnTo>
                  <a:pt x="230599" y="1296810"/>
                </a:lnTo>
                <a:lnTo>
                  <a:pt x="264428" y="1327588"/>
                </a:lnTo>
                <a:lnTo>
                  <a:pt x="300094" y="1356415"/>
                </a:lnTo>
                <a:lnTo>
                  <a:pt x="337505" y="1383203"/>
                </a:lnTo>
                <a:lnTo>
                  <a:pt x="376570" y="1407861"/>
                </a:lnTo>
                <a:lnTo>
                  <a:pt x="417195" y="1430302"/>
                </a:lnTo>
                <a:lnTo>
                  <a:pt x="459289" y="1450436"/>
                </a:lnTo>
                <a:lnTo>
                  <a:pt x="502759" y="1468174"/>
                </a:lnTo>
                <a:lnTo>
                  <a:pt x="547513" y="1483427"/>
                </a:lnTo>
                <a:lnTo>
                  <a:pt x="593459" y="1496107"/>
                </a:lnTo>
                <a:lnTo>
                  <a:pt x="640504" y="1506124"/>
                </a:lnTo>
                <a:lnTo>
                  <a:pt x="688557" y="1513389"/>
                </a:lnTo>
                <a:lnTo>
                  <a:pt x="737525" y="1517813"/>
                </a:lnTo>
                <a:lnTo>
                  <a:pt x="787317" y="1519307"/>
                </a:lnTo>
                <a:lnTo>
                  <a:pt x="837108" y="1517813"/>
                </a:lnTo>
                <a:lnTo>
                  <a:pt x="886076" y="1513389"/>
                </a:lnTo>
                <a:lnTo>
                  <a:pt x="934129" y="1506124"/>
                </a:lnTo>
                <a:lnTo>
                  <a:pt x="981175" y="1496107"/>
                </a:lnTo>
                <a:lnTo>
                  <a:pt x="1027120" y="1483427"/>
                </a:lnTo>
                <a:lnTo>
                  <a:pt x="1071875" y="1468174"/>
                </a:lnTo>
                <a:lnTo>
                  <a:pt x="1115345" y="1450436"/>
                </a:lnTo>
                <a:lnTo>
                  <a:pt x="1157438" y="1430302"/>
                </a:lnTo>
                <a:lnTo>
                  <a:pt x="1198063" y="1407861"/>
                </a:lnTo>
                <a:lnTo>
                  <a:pt x="1237128" y="1383203"/>
                </a:lnTo>
                <a:lnTo>
                  <a:pt x="1274539" y="1356415"/>
                </a:lnTo>
                <a:lnTo>
                  <a:pt x="1310205" y="1327588"/>
                </a:lnTo>
                <a:lnTo>
                  <a:pt x="1344034" y="1296810"/>
                </a:lnTo>
                <a:lnTo>
                  <a:pt x="1375933" y="1264170"/>
                </a:lnTo>
                <a:lnTo>
                  <a:pt x="1405810" y="1229757"/>
                </a:lnTo>
                <a:lnTo>
                  <a:pt x="1433572" y="1193660"/>
                </a:lnTo>
                <a:lnTo>
                  <a:pt x="1459129" y="1155968"/>
                </a:lnTo>
                <a:lnTo>
                  <a:pt x="1482387" y="1116771"/>
                </a:lnTo>
                <a:lnTo>
                  <a:pt x="1503254" y="1076156"/>
                </a:lnTo>
                <a:lnTo>
                  <a:pt x="1521638" y="1034213"/>
                </a:lnTo>
                <a:lnTo>
                  <a:pt x="1537447" y="991032"/>
                </a:lnTo>
                <a:lnTo>
                  <a:pt x="1550588" y="946700"/>
                </a:lnTo>
                <a:lnTo>
                  <a:pt x="1560969" y="901307"/>
                </a:lnTo>
                <a:lnTo>
                  <a:pt x="1568499" y="854943"/>
                </a:lnTo>
                <a:lnTo>
                  <a:pt x="1573084" y="807695"/>
                </a:lnTo>
                <a:lnTo>
                  <a:pt x="1574633" y="759653"/>
                </a:lnTo>
                <a:lnTo>
                  <a:pt x="1573084" y="711612"/>
                </a:lnTo>
                <a:lnTo>
                  <a:pt x="1568499" y="664364"/>
                </a:lnTo>
                <a:lnTo>
                  <a:pt x="1560969" y="617999"/>
                </a:lnTo>
                <a:lnTo>
                  <a:pt x="1550588" y="572607"/>
                </a:lnTo>
                <a:lnTo>
                  <a:pt x="1537447" y="528275"/>
                </a:lnTo>
                <a:lnTo>
                  <a:pt x="1521638" y="485094"/>
                </a:lnTo>
                <a:lnTo>
                  <a:pt x="1503254" y="443151"/>
                </a:lnTo>
                <a:lnTo>
                  <a:pt x="1482387" y="402536"/>
                </a:lnTo>
                <a:lnTo>
                  <a:pt x="1459129" y="363339"/>
                </a:lnTo>
                <a:lnTo>
                  <a:pt x="1433572" y="325647"/>
                </a:lnTo>
                <a:lnTo>
                  <a:pt x="1405810" y="289550"/>
                </a:lnTo>
                <a:lnTo>
                  <a:pt x="1375933" y="255137"/>
                </a:lnTo>
                <a:lnTo>
                  <a:pt x="1344034" y="222497"/>
                </a:lnTo>
                <a:lnTo>
                  <a:pt x="1310205" y="191719"/>
                </a:lnTo>
                <a:lnTo>
                  <a:pt x="1274539" y="162892"/>
                </a:lnTo>
                <a:lnTo>
                  <a:pt x="1237128" y="136104"/>
                </a:lnTo>
                <a:lnTo>
                  <a:pt x="1198063" y="111446"/>
                </a:lnTo>
                <a:lnTo>
                  <a:pt x="1157438" y="89005"/>
                </a:lnTo>
                <a:lnTo>
                  <a:pt x="1115345" y="68871"/>
                </a:lnTo>
                <a:lnTo>
                  <a:pt x="1071875" y="51133"/>
                </a:lnTo>
                <a:lnTo>
                  <a:pt x="1027120" y="35880"/>
                </a:lnTo>
                <a:lnTo>
                  <a:pt x="981175" y="23200"/>
                </a:lnTo>
                <a:lnTo>
                  <a:pt x="934129" y="13183"/>
                </a:lnTo>
                <a:lnTo>
                  <a:pt x="886076" y="5918"/>
                </a:lnTo>
                <a:lnTo>
                  <a:pt x="837108" y="1494"/>
                </a:lnTo>
                <a:lnTo>
                  <a:pt x="787317" y="0"/>
                </a:lnTo>
                <a:lnTo>
                  <a:pt x="737525" y="1494"/>
                </a:lnTo>
                <a:lnTo>
                  <a:pt x="688557" y="5918"/>
                </a:lnTo>
                <a:lnTo>
                  <a:pt x="640504" y="13183"/>
                </a:lnTo>
                <a:lnTo>
                  <a:pt x="593459" y="23200"/>
                </a:lnTo>
                <a:lnTo>
                  <a:pt x="547513" y="35880"/>
                </a:lnTo>
                <a:lnTo>
                  <a:pt x="502759" y="51133"/>
                </a:lnTo>
                <a:lnTo>
                  <a:pt x="459289" y="68871"/>
                </a:lnTo>
                <a:lnTo>
                  <a:pt x="417195" y="89005"/>
                </a:lnTo>
                <a:lnTo>
                  <a:pt x="376570" y="111446"/>
                </a:lnTo>
                <a:lnTo>
                  <a:pt x="337505" y="136104"/>
                </a:lnTo>
                <a:lnTo>
                  <a:pt x="300094" y="162892"/>
                </a:lnTo>
                <a:lnTo>
                  <a:pt x="264428" y="191719"/>
                </a:lnTo>
                <a:lnTo>
                  <a:pt x="230599" y="222497"/>
                </a:lnTo>
                <a:lnTo>
                  <a:pt x="198700" y="255137"/>
                </a:lnTo>
                <a:lnTo>
                  <a:pt x="168823" y="289550"/>
                </a:lnTo>
                <a:lnTo>
                  <a:pt x="141060" y="325647"/>
                </a:lnTo>
                <a:lnTo>
                  <a:pt x="115504" y="363339"/>
                </a:lnTo>
                <a:lnTo>
                  <a:pt x="92246" y="402536"/>
                </a:lnTo>
                <a:lnTo>
                  <a:pt x="71379" y="443151"/>
                </a:lnTo>
                <a:lnTo>
                  <a:pt x="52995" y="485094"/>
                </a:lnTo>
                <a:lnTo>
                  <a:pt x="37186" y="528275"/>
                </a:lnTo>
                <a:lnTo>
                  <a:pt x="24045" y="572607"/>
                </a:lnTo>
                <a:lnTo>
                  <a:pt x="13663" y="617999"/>
                </a:lnTo>
                <a:lnTo>
                  <a:pt x="6134" y="664364"/>
                </a:lnTo>
                <a:lnTo>
                  <a:pt x="1548" y="711612"/>
                </a:lnTo>
                <a:lnTo>
                  <a:pt x="0" y="759653"/>
                </a:lnTo>
                <a:close/>
              </a:path>
            </a:pathLst>
          </a:custGeom>
          <a:ln w="23090">
            <a:solidFill>
              <a:srgbClr val="2020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68700" y="1264251"/>
            <a:ext cx="1676400" cy="476250"/>
          </a:xfrm>
          <a:prstGeom prst="rect">
            <a:avLst/>
          </a:prstGeom>
          <a:ln w="23090">
            <a:solidFill>
              <a:srgbClr val="202020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45"/>
              </a:spcBef>
            </a:pPr>
            <a:r>
              <a:rPr sz="1500" b="1" dirty="0">
                <a:solidFill>
                  <a:srgbClr val="202020"/>
                </a:solidFill>
                <a:latin typeface="Arial"/>
                <a:cs typeface="Arial"/>
              </a:rPr>
              <a:t>Student </a:t>
            </a:r>
            <a:r>
              <a:rPr sz="1500" b="1" spc="-10" dirty="0">
                <a:solidFill>
                  <a:srgbClr val="202020"/>
                </a:solidFill>
                <a:latin typeface="Arial"/>
                <a:cs typeface="Arial"/>
              </a:rPr>
              <a:t>Database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16700" y="2163690"/>
            <a:ext cx="1642745" cy="503555"/>
          </a:xfrm>
          <a:prstGeom prst="rect">
            <a:avLst/>
          </a:prstGeom>
          <a:ln w="23090">
            <a:solidFill>
              <a:srgbClr val="202020"/>
            </a:solidFill>
          </a:ln>
        </p:spPr>
        <p:txBody>
          <a:bodyPr vert="horz" wrap="square" lIns="0" tIns="96520" rIns="0" bIns="0" rtlCol="0">
            <a:spAutoFit/>
          </a:bodyPr>
          <a:lstStyle/>
          <a:p>
            <a:pPr marL="406400">
              <a:lnSpc>
                <a:spcPct val="100000"/>
              </a:lnSpc>
              <a:spcBef>
                <a:spcPts val="760"/>
              </a:spcBef>
            </a:pPr>
            <a:r>
              <a:rPr sz="1600" b="1" spc="-10" dirty="0">
                <a:solidFill>
                  <a:srgbClr val="202020"/>
                </a:solidFill>
                <a:latin typeface="Arial"/>
                <a:cs typeface="Arial"/>
              </a:rPr>
              <a:t>Suppler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5600" y="3788544"/>
            <a:ext cx="1661160" cy="478790"/>
          </a:xfrm>
          <a:prstGeom prst="rect">
            <a:avLst/>
          </a:prstGeom>
          <a:ln w="23090">
            <a:solidFill>
              <a:srgbClr val="20202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565"/>
              </a:spcBef>
            </a:pPr>
            <a:r>
              <a:rPr sz="1600" b="1" spc="-10" dirty="0">
                <a:solidFill>
                  <a:srgbClr val="202020"/>
                </a:solidFill>
                <a:latin typeface="Arial"/>
                <a:cs typeface="Arial"/>
              </a:rPr>
              <a:t>Management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5700" y="5103643"/>
            <a:ext cx="1673225" cy="497205"/>
          </a:xfrm>
          <a:prstGeom prst="rect">
            <a:avLst/>
          </a:prstGeom>
          <a:ln w="23090">
            <a:solidFill>
              <a:srgbClr val="20202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910"/>
              </a:spcBef>
            </a:pPr>
            <a:r>
              <a:rPr sz="1500" b="1" dirty="0">
                <a:solidFill>
                  <a:srgbClr val="202020"/>
                </a:solidFill>
                <a:latin typeface="Arial"/>
                <a:cs typeface="Arial"/>
              </a:rPr>
              <a:t>Book </a:t>
            </a:r>
            <a:r>
              <a:rPr sz="1500" b="1" spc="-10" dirty="0">
                <a:solidFill>
                  <a:srgbClr val="202020"/>
                </a:solidFill>
                <a:latin typeface="Arial"/>
                <a:cs typeface="Arial"/>
              </a:rPr>
              <a:t>Daabase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3823517"/>
            <a:ext cx="1694814" cy="481965"/>
          </a:xfrm>
          <a:prstGeom prst="rect">
            <a:avLst/>
          </a:prstGeom>
          <a:ln w="23090">
            <a:solidFill>
              <a:srgbClr val="20202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790"/>
              </a:spcBef>
            </a:pPr>
            <a:r>
              <a:rPr sz="1500" b="1" spc="-10" dirty="0">
                <a:solidFill>
                  <a:srgbClr val="202020"/>
                </a:solidFill>
                <a:latin typeface="Arial"/>
                <a:cs typeface="Arial"/>
              </a:rPr>
              <a:t>Students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6100" y="2178338"/>
            <a:ext cx="1694814" cy="463550"/>
          </a:xfrm>
          <a:prstGeom prst="rect">
            <a:avLst/>
          </a:prstGeom>
          <a:ln w="23090">
            <a:solidFill>
              <a:srgbClr val="20202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R="120650" algn="ctr">
              <a:lnSpc>
                <a:spcPct val="100000"/>
              </a:lnSpc>
              <a:spcBef>
                <a:spcPts val="545"/>
              </a:spcBef>
            </a:pPr>
            <a:r>
              <a:rPr sz="1500" b="1" spc="-10" dirty="0">
                <a:solidFill>
                  <a:srgbClr val="202020"/>
                </a:solidFill>
                <a:latin typeface="Arial"/>
                <a:cs typeface="Arial"/>
              </a:rPr>
              <a:t>Staff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60800" y="2959100"/>
            <a:ext cx="1189990" cy="6350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10160" algn="ctr">
              <a:lnSpc>
                <a:spcPts val="1500"/>
              </a:lnSpc>
              <a:spcBef>
                <a:spcPts val="400"/>
              </a:spcBef>
            </a:pPr>
            <a:r>
              <a:rPr sz="1500" b="1" spc="-10" dirty="0">
                <a:solidFill>
                  <a:srgbClr val="202020"/>
                </a:solidFill>
                <a:latin typeface="Arial"/>
                <a:cs typeface="Arial"/>
              </a:rPr>
              <a:t>Library Management System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21200" y="1803400"/>
            <a:ext cx="3371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202020"/>
                </a:solidFill>
                <a:latin typeface="Arial"/>
                <a:cs typeface="Arial"/>
              </a:rPr>
              <a:t>Reply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33900" y="2336800"/>
            <a:ext cx="4768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202020"/>
                </a:solidFill>
                <a:latin typeface="Arial"/>
                <a:cs typeface="Arial"/>
              </a:rPr>
              <a:t>Request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81700" y="2628900"/>
            <a:ext cx="3371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202020"/>
                </a:solidFill>
                <a:latin typeface="Arial"/>
                <a:cs typeface="Arial"/>
              </a:rPr>
              <a:t>Stock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02300" y="3594100"/>
            <a:ext cx="4578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202020"/>
                </a:solidFill>
                <a:latin typeface="Arial"/>
                <a:cs typeface="Arial"/>
              </a:rPr>
              <a:t>Reports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08500" y="4838700"/>
            <a:ext cx="7181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202020"/>
                </a:solidFill>
                <a:latin typeface="Arial"/>
                <a:cs typeface="Arial"/>
              </a:rPr>
              <a:t>Book </a:t>
            </a:r>
            <a:r>
              <a:rPr sz="900" b="1" spc="-10" dirty="0">
                <a:solidFill>
                  <a:srgbClr val="202020"/>
                </a:solidFill>
                <a:latin typeface="Arial"/>
                <a:cs typeface="Arial"/>
              </a:rPr>
              <a:t>Details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59300" y="4127500"/>
            <a:ext cx="610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202020"/>
                </a:solidFill>
                <a:latin typeface="Arial"/>
                <a:cs typeface="Arial"/>
              </a:rPr>
              <a:t>availability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49500" y="3797300"/>
            <a:ext cx="2990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202020"/>
                </a:solidFill>
                <a:latin typeface="Arial"/>
                <a:cs typeface="Arial"/>
              </a:rPr>
              <a:t>reply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51200" y="3556000"/>
            <a:ext cx="4387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202020"/>
                </a:solidFill>
                <a:latin typeface="Arial"/>
                <a:cs typeface="Arial"/>
              </a:rPr>
              <a:t>request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87700" y="2870200"/>
            <a:ext cx="514350" cy="2768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39700" marR="5080" indent="-127635">
              <a:lnSpc>
                <a:spcPts val="900"/>
              </a:lnSpc>
              <a:spcBef>
                <a:spcPts val="280"/>
              </a:spcBef>
            </a:pPr>
            <a:r>
              <a:rPr sz="900" b="1" spc="-10" dirty="0">
                <a:solidFill>
                  <a:srgbClr val="202020"/>
                </a:solidFill>
                <a:latin typeface="Arial"/>
                <a:cs typeface="Arial"/>
              </a:rPr>
              <a:t>Students </a:t>
            </a:r>
            <a:r>
              <a:rPr sz="900" b="1" spc="-20" dirty="0">
                <a:solidFill>
                  <a:srgbClr val="202020"/>
                </a:solidFill>
                <a:latin typeface="Arial"/>
                <a:cs typeface="Arial"/>
              </a:rPr>
              <a:t>info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38400" y="2209800"/>
            <a:ext cx="45783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202020"/>
                </a:solidFill>
                <a:latin typeface="Arial"/>
                <a:cs typeface="Arial"/>
              </a:rPr>
              <a:t>Reports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79595" y="1782572"/>
            <a:ext cx="12700" cy="727075"/>
          </a:xfrm>
          <a:custGeom>
            <a:avLst/>
            <a:gdLst/>
            <a:ahLst/>
            <a:cxnLst/>
            <a:rect l="l" t="t" r="r" b="b"/>
            <a:pathLst>
              <a:path w="12700" h="727075">
                <a:moveTo>
                  <a:pt x="12318" y="726693"/>
                </a:moveTo>
                <a:lnTo>
                  <a:pt x="0" y="0"/>
                </a:lnTo>
              </a:path>
            </a:pathLst>
          </a:custGeom>
          <a:ln w="12700">
            <a:solidFill>
              <a:srgbClr val="B61B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2239645" y="2385822"/>
            <a:ext cx="4455160" cy="2695575"/>
            <a:chOff x="2239645" y="2385822"/>
            <a:chExt cx="4455160" cy="2695575"/>
          </a:xfrm>
        </p:grpSpPr>
        <p:sp>
          <p:nvSpPr>
            <p:cNvPr id="25" name="object 25"/>
            <p:cNvSpPr/>
            <p:nvPr/>
          </p:nvSpPr>
          <p:spPr>
            <a:xfrm>
              <a:off x="5128895" y="2410714"/>
              <a:ext cx="1478280" cy="505459"/>
            </a:xfrm>
            <a:custGeom>
              <a:avLst/>
              <a:gdLst/>
              <a:ahLst/>
              <a:cxnLst/>
              <a:rect l="l" t="t" r="r" b="b"/>
              <a:pathLst>
                <a:path w="1478279" h="505460">
                  <a:moveTo>
                    <a:pt x="0" y="504952"/>
                  </a:moveTo>
                  <a:lnTo>
                    <a:pt x="1477771" y="0"/>
                  </a:lnTo>
                </a:path>
              </a:pathLst>
            </a:custGeom>
            <a:ln w="12700">
              <a:solidFill>
                <a:srgbClr val="B61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79695" y="3662933"/>
              <a:ext cx="1508760" cy="345440"/>
            </a:xfrm>
            <a:custGeom>
              <a:avLst/>
              <a:gdLst/>
              <a:ahLst/>
              <a:cxnLst/>
              <a:rect l="l" t="t" r="r" b="b"/>
              <a:pathLst>
                <a:path w="1508759" h="345439">
                  <a:moveTo>
                    <a:pt x="0" y="0"/>
                  </a:moveTo>
                  <a:lnTo>
                    <a:pt x="1508632" y="344931"/>
                  </a:lnTo>
                </a:path>
              </a:pathLst>
            </a:custGeom>
            <a:ln w="12699">
              <a:solidFill>
                <a:srgbClr val="B61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7695" y="4107814"/>
              <a:ext cx="18415" cy="967105"/>
            </a:xfrm>
            <a:custGeom>
              <a:avLst/>
              <a:gdLst/>
              <a:ahLst/>
              <a:cxnLst/>
              <a:rect l="l" t="t" r="r" b="b"/>
              <a:pathLst>
                <a:path w="18414" h="967104">
                  <a:moveTo>
                    <a:pt x="0" y="0"/>
                  </a:moveTo>
                  <a:lnTo>
                    <a:pt x="18414" y="966851"/>
                  </a:lnTo>
                </a:path>
              </a:pathLst>
            </a:custGeom>
            <a:ln w="12700">
              <a:solidFill>
                <a:srgbClr val="B61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09495" y="2392172"/>
              <a:ext cx="1428750" cy="523875"/>
            </a:xfrm>
            <a:custGeom>
              <a:avLst/>
              <a:gdLst/>
              <a:ahLst/>
              <a:cxnLst/>
              <a:rect l="l" t="t" r="r" b="b"/>
              <a:pathLst>
                <a:path w="1428750" h="523875">
                  <a:moveTo>
                    <a:pt x="1428496" y="523493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B61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45995" y="3683761"/>
              <a:ext cx="1440815" cy="400685"/>
            </a:xfrm>
            <a:custGeom>
              <a:avLst/>
              <a:gdLst/>
              <a:ahLst/>
              <a:cxnLst/>
              <a:rect l="l" t="t" r="r" b="b"/>
              <a:pathLst>
                <a:path w="1440814" h="400685">
                  <a:moveTo>
                    <a:pt x="1440815" y="0"/>
                  </a:moveTo>
                  <a:lnTo>
                    <a:pt x="0" y="400303"/>
                  </a:lnTo>
                </a:path>
              </a:pathLst>
            </a:custGeom>
            <a:ln w="12700">
              <a:solidFill>
                <a:srgbClr val="B61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5</a:t>
            </a:fld>
            <a:endParaRPr spc="-50" dirty="0"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7355205" y="6606337"/>
            <a:ext cx="178879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lang="en-US" spc="-25" dirty="0" smtClean="0"/>
              <a:t>2.3.0</a:t>
            </a:r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/>
              <a:t>Entity</a:t>
            </a:r>
            <a:r>
              <a:rPr spc="-105" dirty="0"/>
              <a:t> </a:t>
            </a:r>
            <a:r>
              <a:rPr dirty="0"/>
              <a:t>Relationship</a:t>
            </a:r>
            <a:r>
              <a:rPr spc="-105" dirty="0"/>
              <a:t> </a:t>
            </a:r>
            <a:r>
              <a:rPr dirty="0"/>
              <a:t>Diagram</a:t>
            </a:r>
            <a:r>
              <a:rPr spc="-125" dirty="0"/>
              <a:t> </a:t>
            </a:r>
            <a:r>
              <a:rPr spc="-10" dirty="0"/>
              <a:t>(ERD)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164579"/>
            <a:ext cx="9144000" cy="693420"/>
          </a:xfrm>
          <a:custGeom>
            <a:avLst/>
            <a:gdLst/>
            <a:ahLst/>
            <a:cxnLst/>
            <a:rect l="l" t="t" r="r" b="b"/>
            <a:pathLst>
              <a:path w="9144000" h="693420">
                <a:moveTo>
                  <a:pt x="9144000" y="0"/>
                </a:moveTo>
                <a:lnTo>
                  <a:pt x="0" y="0"/>
                </a:lnTo>
                <a:lnTo>
                  <a:pt x="0" y="693420"/>
                </a:lnTo>
                <a:lnTo>
                  <a:pt x="9144000" y="693420"/>
                </a:lnTo>
                <a:lnTo>
                  <a:pt x="9144000" y="0"/>
                </a:lnTo>
                <a:close/>
              </a:path>
            </a:pathLst>
          </a:custGeom>
          <a:solidFill>
            <a:srgbClr val="701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3528"/>
            <a:ext cx="2953511" cy="685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06600" y="1900051"/>
            <a:ext cx="5608955" cy="392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  <a:tabLst>
                <a:tab pos="4876165" algn="l"/>
              </a:tabLst>
            </a:pPr>
            <a:r>
              <a:rPr sz="1800" b="1" spc="-10" dirty="0">
                <a:solidFill>
                  <a:srgbClr val="202020"/>
                </a:solidFill>
                <a:latin typeface="Arial"/>
                <a:cs typeface="Arial"/>
              </a:rPr>
              <a:t>Student</a:t>
            </a:r>
            <a:r>
              <a:rPr sz="1800" b="1" dirty="0">
                <a:solidFill>
                  <a:srgbClr val="202020"/>
                </a:solidFill>
                <a:latin typeface="Arial"/>
                <a:cs typeface="Arial"/>
              </a:rPr>
              <a:t>	</a:t>
            </a:r>
            <a:r>
              <a:rPr sz="2550" b="1" spc="-30" baseline="9803" dirty="0">
                <a:solidFill>
                  <a:srgbClr val="202020"/>
                </a:solidFill>
                <a:latin typeface="Arial"/>
                <a:cs typeface="Arial"/>
              </a:rPr>
              <a:t>Book</a:t>
            </a:r>
            <a:endParaRPr sz="2550" baseline="9803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40"/>
              </a:spcBef>
              <a:tabLst>
                <a:tab pos="4876165" algn="l"/>
              </a:tabLst>
            </a:pPr>
            <a:r>
              <a:rPr sz="1800" b="1" spc="-10" dirty="0">
                <a:solidFill>
                  <a:srgbClr val="202020"/>
                </a:solidFill>
                <a:latin typeface="Arial"/>
                <a:cs typeface="Arial"/>
              </a:rPr>
              <a:t>StudentID</a:t>
            </a:r>
            <a:r>
              <a:rPr sz="1800" b="1" dirty="0">
                <a:solidFill>
                  <a:srgbClr val="202020"/>
                </a:solidFill>
                <a:latin typeface="Arial"/>
                <a:cs typeface="Arial"/>
              </a:rPr>
              <a:t>	</a:t>
            </a:r>
            <a:r>
              <a:rPr sz="2550" b="1" spc="-15" baseline="16339" dirty="0">
                <a:solidFill>
                  <a:srgbClr val="202020"/>
                </a:solidFill>
                <a:latin typeface="Arial"/>
                <a:cs typeface="Arial"/>
              </a:rPr>
              <a:t>BookId</a:t>
            </a:r>
            <a:endParaRPr sz="2550" baseline="16339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  <a:tabLst>
                <a:tab pos="4876165" algn="l"/>
              </a:tabLst>
            </a:pPr>
            <a:r>
              <a:rPr sz="2700" b="1" spc="-30" baseline="-21604" dirty="0">
                <a:solidFill>
                  <a:srgbClr val="202020"/>
                </a:solidFill>
                <a:latin typeface="Arial"/>
                <a:cs typeface="Arial"/>
              </a:rPr>
              <a:t>Name</a:t>
            </a:r>
            <a:r>
              <a:rPr sz="2700" b="1" baseline="-21604" dirty="0">
                <a:solidFill>
                  <a:srgbClr val="202020"/>
                </a:solidFill>
                <a:latin typeface="Arial"/>
                <a:cs typeface="Arial"/>
              </a:rPr>
              <a:t>	</a:t>
            </a:r>
            <a:r>
              <a:rPr sz="1700" b="1" spc="-10" dirty="0">
                <a:solidFill>
                  <a:srgbClr val="202020"/>
                </a:solidFill>
                <a:latin typeface="Arial"/>
                <a:cs typeface="Arial"/>
              </a:rPr>
              <a:t>Title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700">
              <a:latin typeface="Arial"/>
              <a:cs typeface="Arial"/>
            </a:endParaRPr>
          </a:p>
          <a:p>
            <a:pPr marR="16510" algn="r">
              <a:lnSpc>
                <a:spcPts val="2080"/>
              </a:lnSpc>
              <a:spcBef>
                <a:spcPts val="5"/>
              </a:spcBef>
              <a:tabLst>
                <a:tab pos="4876165" algn="l"/>
              </a:tabLst>
            </a:pPr>
            <a:r>
              <a:rPr sz="1800" b="1" spc="-10" dirty="0">
                <a:solidFill>
                  <a:srgbClr val="202020"/>
                </a:solidFill>
                <a:latin typeface="Arial"/>
                <a:cs typeface="Arial"/>
              </a:rPr>
              <a:t>Contact</a:t>
            </a:r>
            <a:r>
              <a:rPr sz="1800" b="1" dirty="0">
                <a:solidFill>
                  <a:srgbClr val="202020"/>
                </a:solidFill>
                <a:latin typeface="Arial"/>
                <a:cs typeface="Arial"/>
              </a:rPr>
              <a:t>	</a:t>
            </a:r>
            <a:r>
              <a:rPr sz="2550" b="1" spc="-15" baseline="29411" dirty="0">
                <a:solidFill>
                  <a:srgbClr val="202020"/>
                </a:solidFill>
                <a:latin typeface="Arial"/>
                <a:cs typeface="Arial"/>
              </a:rPr>
              <a:t>Author</a:t>
            </a:r>
            <a:endParaRPr sz="2550" baseline="29411">
              <a:latin typeface="Arial"/>
              <a:cs typeface="Arial"/>
            </a:endParaRPr>
          </a:p>
          <a:p>
            <a:pPr marR="64135" algn="r">
              <a:lnSpc>
                <a:spcPts val="1960"/>
              </a:lnSpc>
              <a:tabLst>
                <a:tab pos="2552065" algn="l"/>
              </a:tabLst>
            </a:pPr>
            <a:r>
              <a:rPr sz="1600" b="1" spc="-10" dirty="0">
                <a:solidFill>
                  <a:srgbClr val="202020"/>
                </a:solidFill>
                <a:latin typeface="Arial"/>
                <a:cs typeface="Arial"/>
              </a:rPr>
              <a:t>IssueRecord</a:t>
            </a:r>
            <a:r>
              <a:rPr sz="1600" b="1" dirty="0">
                <a:solidFill>
                  <a:srgbClr val="202020"/>
                </a:solidFill>
                <a:latin typeface="Arial"/>
                <a:cs typeface="Arial"/>
              </a:rPr>
              <a:t>	</a:t>
            </a:r>
            <a:r>
              <a:rPr sz="2550" b="1" spc="-15" baseline="-19607" dirty="0">
                <a:solidFill>
                  <a:srgbClr val="202020"/>
                </a:solidFill>
                <a:latin typeface="Arial"/>
                <a:cs typeface="Arial"/>
              </a:rPr>
              <a:t>Status</a:t>
            </a:r>
            <a:endParaRPr sz="2550" baseline="-19607">
              <a:latin typeface="Arial"/>
              <a:cs typeface="Arial"/>
            </a:endParaRPr>
          </a:p>
          <a:p>
            <a:pPr marL="2324100" marR="2068195">
              <a:lnSpc>
                <a:spcPts val="32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202020"/>
                </a:solidFill>
                <a:latin typeface="Arial"/>
                <a:cs typeface="Arial"/>
              </a:rPr>
              <a:t>IssueID BookID StudentD IssueData RetruenDate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54100" y="1514758"/>
            <a:ext cx="6957695" cy="4454525"/>
          </a:xfrm>
          <a:custGeom>
            <a:avLst/>
            <a:gdLst/>
            <a:ahLst/>
            <a:cxnLst/>
            <a:rect l="l" t="t" r="r" b="b"/>
            <a:pathLst>
              <a:path w="6957695" h="4454525">
                <a:moveTo>
                  <a:pt x="6957419" y="0"/>
                </a:moveTo>
                <a:lnTo>
                  <a:pt x="0" y="0"/>
                </a:lnTo>
                <a:lnTo>
                  <a:pt x="0" y="4454241"/>
                </a:lnTo>
                <a:lnTo>
                  <a:pt x="6957419" y="4454241"/>
                </a:lnTo>
                <a:lnTo>
                  <a:pt x="69574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6200" y="909043"/>
            <a:ext cx="4524143" cy="521235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6</a:t>
            </a:fld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7355205" y="6606337"/>
            <a:ext cx="178879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lang="en-US" spc="-25" dirty="0" smtClean="0"/>
              <a:t>2.3</a:t>
            </a:r>
            <a:r>
              <a:rPr spc="-25" dirty="0" smtClean="0"/>
              <a:t>.0</a:t>
            </a:r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70" dirty="0"/>
              <a:t> </a:t>
            </a:r>
            <a:r>
              <a:rPr dirty="0"/>
              <a:t>Flow</a:t>
            </a:r>
            <a:r>
              <a:rPr spc="-100" dirty="0"/>
              <a:t> </a:t>
            </a:r>
            <a:r>
              <a:rPr dirty="0"/>
              <a:t>Diagram</a:t>
            </a:r>
            <a:r>
              <a:rPr spc="-95" dirty="0"/>
              <a:t> </a:t>
            </a:r>
            <a:r>
              <a:rPr spc="-10" dirty="0"/>
              <a:t>(DFD)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164579"/>
            <a:ext cx="9144000" cy="693420"/>
          </a:xfrm>
          <a:custGeom>
            <a:avLst/>
            <a:gdLst/>
            <a:ahLst/>
            <a:cxnLst/>
            <a:rect l="l" t="t" r="r" b="b"/>
            <a:pathLst>
              <a:path w="9144000" h="693420">
                <a:moveTo>
                  <a:pt x="9144000" y="0"/>
                </a:moveTo>
                <a:lnTo>
                  <a:pt x="0" y="0"/>
                </a:lnTo>
                <a:lnTo>
                  <a:pt x="0" y="693420"/>
                </a:lnTo>
                <a:lnTo>
                  <a:pt x="9144000" y="693420"/>
                </a:lnTo>
                <a:lnTo>
                  <a:pt x="9144000" y="0"/>
                </a:lnTo>
                <a:close/>
              </a:path>
            </a:pathLst>
          </a:custGeom>
          <a:solidFill>
            <a:srgbClr val="701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3528"/>
            <a:ext cx="2953511" cy="685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26489" y="6320739"/>
            <a:ext cx="4770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Guidelines:</a:t>
            </a:r>
            <a:r>
              <a:rPr sz="1600" b="1" i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Add</a:t>
            </a:r>
            <a:r>
              <a:rPr sz="1600" b="1" i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more</a:t>
            </a:r>
            <a:r>
              <a:rPr sz="1600" b="1" i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slides,</a:t>
            </a:r>
            <a:r>
              <a:rPr sz="1600" b="1" i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if</a:t>
            </a:r>
            <a:r>
              <a:rPr sz="1600" b="1" i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required</a:t>
            </a:r>
            <a:r>
              <a:rPr sz="1600" b="1" i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1600" b="1" i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show</a:t>
            </a:r>
            <a:r>
              <a:rPr sz="1600" b="1" i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all</a:t>
            </a:r>
            <a:r>
              <a:rPr sz="1600" b="1" i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FFFF00"/>
                </a:solidFill>
                <a:latin typeface="Calibri"/>
                <a:cs typeface="Calibri"/>
              </a:rPr>
              <a:t>DFDs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750" y="2738701"/>
            <a:ext cx="8809342" cy="27473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4800" y="1460500"/>
            <a:ext cx="2873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02020"/>
                </a:solidFill>
                <a:latin typeface="Roboto"/>
                <a:cs typeface="Roboto"/>
              </a:rPr>
              <a:t>0</a:t>
            </a:r>
            <a:r>
              <a:rPr sz="1800" b="1" spc="-2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202020"/>
                </a:solidFill>
                <a:latin typeface="Roboto"/>
                <a:cs typeface="Roboto"/>
              </a:rPr>
              <a:t>Level</a:t>
            </a:r>
            <a:r>
              <a:rPr sz="1800" b="1" spc="-3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202020"/>
                </a:solidFill>
                <a:latin typeface="Roboto"/>
                <a:cs typeface="Roboto"/>
              </a:rPr>
              <a:t>Data</a:t>
            </a:r>
            <a:r>
              <a:rPr sz="1800" b="1" spc="-30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202020"/>
                </a:solidFill>
                <a:latin typeface="Roboto"/>
                <a:cs typeface="Roboto"/>
              </a:rPr>
              <a:t>Flow</a:t>
            </a:r>
            <a:r>
              <a:rPr sz="1800" b="1" spc="-2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b="1" dirty="0">
                <a:solidFill>
                  <a:srgbClr val="202020"/>
                </a:solidFill>
                <a:latin typeface="Roboto"/>
                <a:cs typeface="Roboto"/>
              </a:rPr>
              <a:t>Diagram</a:t>
            </a:r>
            <a:r>
              <a:rPr sz="1800" b="1" spc="-25" dirty="0">
                <a:solidFill>
                  <a:srgbClr val="202020"/>
                </a:solidFill>
                <a:latin typeface="Roboto"/>
                <a:cs typeface="Roboto"/>
              </a:rPr>
              <a:t> </a:t>
            </a:r>
            <a:r>
              <a:rPr sz="1800" b="1" spc="-50" dirty="0">
                <a:solidFill>
                  <a:srgbClr val="202020"/>
                </a:solidFill>
                <a:latin typeface="Roboto"/>
                <a:cs typeface="Roboto"/>
              </a:rPr>
              <a:t>: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7</a:t>
            </a:fld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7355205" y="6606337"/>
            <a:ext cx="178879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lang="en-US" spc="-25" dirty="0" smtClean="0"/>
              <a:t>2.3</a:t>
            </a:r>
            <a:r>
              <a:rPr spc="-25" dirty="0" smtClean="0"/>
              <a:t>.0</a:t>
            </a:r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/>
              <a:t>Flow</a:t>
            </a:r>
            <a:r>
              <a:rPr spc="-40" dirty="0"/>
              <a:t> </a:t>
            </a:r>
            <a:r>
              <a:rPr spc="-10" dirty="0"/>
              <a:t>Chart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164579"/>
            <a:ext cx="9144000" cy="693420"/>
          </a:xfrm>
          <a:custGeom>
            <a:avLst/>
            <a:gdLst/>
            <a:ahLst/>
            <a:cxnLst/>
            <a:rect l="l" t="t" r="r" b="b"/>
            <a:pathLst>
              <a:path w="9144000" h="693420">
                <a:moveTo>
                  <a:pt x="9144000" y="0"/>
                </a:moveTo>
                <a:lnTo>
                  <a:pt x="0" y="0"/>
                </a:lnTo>
                <a:lnTo>
                  <a:pt x="0" y="693420"/>
                </a:lnTo>
                <a:lnTo>
                  <a:pt x="9144000" y="693420"/>
                </a:lnTo>
                <a:lnTo>
                  <a:pt x="9144000" y="0"/>
                </a:lnTo>
                <a:close/>
              </a:path>
            </a:pathLst>
          </a:custGeom>
          <a:solidFill>
            <a:srgbClr val="701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676400" y="33528"/>
            <a:ext cx="7449820" cy="6037580"/>
            <a:chOff x="1676400" y="33528"/>
            <a:chExt cx="7449820" cy="60375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200" y="33528"/>
              <a:ext cx="2953511" cy="685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6400" y="941575"/>
              <a:ext cx="6075354" cy="51290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626489" y="6371412"/>
            <a:ext cx="270446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Guidelines:</a:t>
            </a:r>
            <a:r>
              <a:rPr sz="1600" b="1" i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This</a:t>
            </a:r>
            <a:r>
              <a:rPr sz="1600" b="1" i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slide</a:t>
            </a:r>
            <a:r>
              <a:rPr sz="1600" b="1" i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1600" b="1" i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FFFF00"/>
                </a:solidFill>
                <a:latin typeface="Calibri"/>
                <a:cs typeface="Calibri"/>
              </a:rPr>
              <a:t>optional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240"/>
              </a:lnSpc>
            </a:pPr>
            <a:fld id="{81D60167-4931-47E6-BA6A-407CBD079E47}" type="slidenum">
              <a:rPr spc="-50" dirty="0"/>
              <a:pPr marL="76200">
                <a:lnSpc>
                  <a:spcPts val="1240"/>
                </a:lnSpc>
              </a:pPr>
              <a:t>8</a:t>
            </a:fld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7355205" y="6606337"/>
            <a:ext cx="178879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lang="en-US" spc="-25" dirty="0" smtClean="0"/>
              <a:t>2.3</a:t>
            </a:r>
            <a:r>
              <a:rPr spc="-25" dirty="0" smtClean="0"/>
              <a:t>.0</a:t>
            </a:r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-55" dirty="0"/>
              <a:t> </a:t>
            </a:r>
            <a:r>
              <a:rPr dirty="0"/>
              <a:t>Case</a:t>
            </a:r>
            <a:r>
              <a:rPr spc="-40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3528"/>
            <a:ext cx="9144000" cy="6824980"/>
            <a:chOff x="0" y="33528"/>
            <a:chExt cx="9144000" cy="6824980"/>
          </a:xfrm>
        </p:grpSpPr>
        <p:sp>
          <p:nvSpPr>
            <p:cNvPr id="4" name="object 4"/>
            <p:cNvSpPr/>
            <p:nvPr/>
          </p:nvSpPr>
          <p:spPr>
            <a:xfrm>
              <a:off x="0" y="6164579"/>
              <a:ext cx="9144000" cy="693420"/>
            </a:xfrm>
            <a:custGeom>
              <a:avLst/>
              <a:gdLst/>
              <a:ahLst/>
              <a:cxnLst/>
              <a:rect l="l" t="t" r="r" b="b"/>
              <a:pathLst>
                <a:path w="9144000" h="693420">
                  <a:moveTo>
                    <a:pt x="9144000" y="0"/>
                  </a:moveTo>
                  <a:lnTo>
                    <a:pt x="0" y="0"/>
                  </a:lnTo>
                  <a:lnTo>
                    <a:pt x="0" y="693420"/>
                  </a:lnTo>
                  <a:lnTo>
                    <a:pt x="9144000" y="6934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7016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200" y="33528"/>
              <a:ext cx="2953511" cy="6858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26489" y="6320739"/>
            <a:ext cx="677290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Guidelines:</a:t>
            </a:r>
            <a:r>
              <a:rPr sz="1600" b="1" i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This</a:t>
            </a:r>
            <a:r>
              <a:rPr sz="1600" b="1" i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slide</a:t>
            </a:r>
            <a:r>
              <a:rPr sz="1600" b="1" i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1600" b="1" i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optional.</a:t>
            </a:r>
            <a:r>
              <a:rPr sz="1600" b="1" i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May</a:t>
            </a:r>
            <a:r>
              <a:rPr sz="1600" b="1" i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add</a:t>
            </a:r>
            <a:r>
              <a:rPr sz="1600" b="1" i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more</a:t>
            </a:r>
            <a:r>
              <a:rPr sz="1600" b="1" i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slide,</a:t>
            </a:r>
            <a:r>
              <a:rPr sz="1600" b="1" i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if</a:t>
            </a:r>
            <a:r>
              <a:rPr sz="1600" b="1" i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1600" b="1" i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details</a:t>
            </a:r>
            <a:r>
              <a:rPr sz="1600" b="1" i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are</a:t>
            </a:r>
            <a:r>
              <a:rPr sz="1600" b="1" i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FFFF00"/>
                </a:solidFill>
                <a:latin typeface="Calibri"/>
                <a:cs typeface="Calibri"/>
              </a:rPr>
              <a:t>available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6800" y="921564"/>
            <a:ext cx="4543448" cy="52379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0847" y="6601231"/>
            <a:ext cx="1028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7355205" y="6606337"/>
            <a:ext cx="178879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lang="en-US" spc="-25" dirty="0" smtClean="0"/>
              <a:t>2.3</a:t>
            </a:r>
            <a:r>
              <a:rPr spc="-25" dirty="0" smtClean="0"/>
              <a:t>.0</a:t>
            </a:r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477" y="126644"/>
            <a:ext cx="153035" cy="355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60"/>
              </a:lnSpc>
            </a:pPr>
            <a:r>
              <a:rPr sz="2800" b="1" spc="-50" dirty="0">
                <a:latin typeface="Calibri"/>
                <a:cs typeface="Calibri"/>
              </a:rPr>
              <a:t>\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914400"/>
          </a:xfrm>
          <a:custGeom>
            <a:avLst/>
            <a:gdLst/>
            <a:ahLst/>
            <a:cxnLst/>
            <a:rect l="l" t="t" r="r" b="b"/>
            <a:pathLst>
              <a:path w="9144000" h="914400">
                <a:moveTo>
                  <a:pt x="91440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0" y="914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701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3207"/>
            <a:ext cx="3202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Advantage</a:t>
            </a:r>
            <a:r>
              <a:rPr sz="24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164579"/>
            <a:ext cx="9144000" cy="693420"/>
          </a:xfrm>
          <a:custGeom>
            <a:avLst/>
            <a:gdLst/>
            <a:ahLst/>
            <a:cxnLst/>
            <a:rect l="l" t="t" r="r" b="b"/>
            <a:pathLst>
              <a:path w="9144000" h="693420">
                <a:moveTo>
                  <a:pt x="9144000" y="0"/>
                </a:moveTo>
                <a:lnTo>
                  <a:pt x="0" y="0"/>
                </a:lnTo>
                <a:lnTo>
                  <a:pt x="0" y="693420"/>
                </a:lnTo>
                <a:lnTo>
                  <a:pt x="9144000" y="693420"/>
                </a:lnTo>
                <a:lnTo>
                  <a:pt x="9144000" y="0"/>
                </a:lnTo>
                <a:close/>
              </a:path>
            </a:pathLst>
          </a:custGeom>
          <a:solidFill>
            <a:srgbClr val="701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3528"/>
            <a:ext cx="2953511" cy="685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62406" y="6284163"/>
            <a:ext cx="79292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Guidelines:</a:t>
            </a:r>
            <a:r>
              <a:rPr sz="1600" b="1" i="1" spc="2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Mention</a:t>
            </a:r>
            <a:r>
              <a:rPr sz="1600" b="1" i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advantage from</a:t>
            </a:r>
            <a:r>
              <a:rPr sz="1600" b="1" i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this</a:t>
            </a:r>
            <a:r>
              <a:rPr sz="1600" b="1" i="1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project,</a:t>
            </a:r>
            <a:r>
              <a:rPr sz="1600" b="1" i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1600" b="1" i="1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audience/ users</a:t>
            </a:r>
            <a:r>
              <a:rPr sz="1600" b="1" i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who</a:t>
            </a:r>
            <a:r>
              <a:rPr sz="1600" b="1" i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will</a:t>
            </a:r>
            <a:r>
              <a:rPr sz="1600" b="1" i="1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FFFF00"/>
                </a:solidFill>
                <a:latin typeface="Calibri"/>
                <a:cs typeface="Calibri"/>
              </a:rPr>
              <a:t>get</a:t>
            </a:r>
            <a:r>
              <a:rPr sz="1600" b="1" i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FFFF00"/>
                </a:solidFill>
                <a:latin typeface="Calibri"/>
                <a:cs typeface="Calibri"/>
              </a:rPr>
              <a:t>benefitted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10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7355205" y="6606337"/>
            <a:ext cx="178879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lang="en-US" spc="-25" dirty="0" smtClean="0"/>
              <a:t>2.3</a:t>
            </a:r>
            <a:r>
              <a:rPr spc="-25" dirty="0" smtClean="0"/>
              <a:t>.0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Easy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manage</a:t>
            </a:r>
            <a:r>
              <a:rPr spc="-15" dirty="0"/>
              <a:t> </a:t>
            </a:r>
            <a:r>
              <a:rPr dirty="0"/>
              <a:t>library</a:t>
            </a:r>
            <a:r>
              <a:rPr spc="-15" dirty="0"/>
              <a:t> </a:t>
            </a:r>
            <a:r>
              <a:rPr spc="-10" dirty="0"/>
              <a:t>records</a:t>
            </a:r>
          </a:p>
          <a:p>
            <a:pPr marL="12700" marR="769620">
              <a:lnSpc>
                <a:spcPts val="6000"/>
              </a:lnSpc>
              <a:spcBef>
                <a:spcPts val="400"/>
              </a:spcBef>
            </a:pPr>
            <a:r>
              <a:rPr dirty="0"/>
              <a:t>Replaces manual </a:t>
            </a:r>
            <a:r>
              <a:rPr spc="-10" dirty="0"/>
              <a:t>bookkeeping </a:t>
            </a:r>
            <a:r>
              <a:rPr dirty="0"/>
              <a:t>Lightweight</a:t>
            </a:r>
            <a:r>
              <a:rPr spc="-45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no</a:t>
            </a:r>
            <a:r>
              <a:rPr spc="-40" dirty="0"/>
              <a:t> </a:t>
            </a:r>
            <a:r>
              <a:rPr dirty="0"/>
              <a:t>complex</a:t>
            </a:r>
            <a:r>
              <a:rPr spc="-40" dirty="0"/>
              <a:t> </a:t>
            </a:r>
            <a:r>
              <a:rPr dirty="0"/>
              <a:t>DB</a:t>
            </a:r>
            <a:r>
              <a:rPr spc="-45" dirty="0"/>
              <a:t> </a:t>
            </a:r>
            <a:r>
              <a:rPr spc="-10" dirty="0"/>
              <a:t>setup </a:t>
            </a:r>
            <a:r>
              <a:rPr dirty="0"/>
              <a:t>Saves</a:t>
            </a:r>
            <a:r>
              <a:rPr spc="-15" dirty="0"/>
              <a:t> </a:t>
            </a:r>
            <a:r>
              <a:rPr dirty="0"/>
              <a:t>time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reduces</a:t>
            </a:r>
            <a:r>
              <a:rPr spc="-15" dirty="0"/>
              <a:t> </a:t>
            </a:r>
            <a:r>
              <a:rPr spc="-10" dirty="0"/>
              <a:t>errors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9300" y="1295400"/>
            <a:ext cx="233679" cy="167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490"/>
              </a:lnSpc>
              <a:spcBef>
                <a:spcPts val="100"/>
              </a:spcBef>
            </a:pPr>
            <a:r>
              <a:rPr sz="5900" spc="-50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endParaRPr sz="5900">
              <a:latin typeface="Arial"/>
              <a:cs typeface="Arial"/>
            </a:endParaRPr>
          </a:p>
          <a:p>
            <a:pPr marL="12700">
              <a:lnSpc>
                <a:spcPts val="6490"/>
              </a:lnSpc>
            </a:pPr>
            <a:r>
              <a:rPr sz="5900" spc="-50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endParaRPr sz="5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300" y="2794000"/>
            <a:ext cx="233679" cy="167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490"/>
              </a:lnSpc>
              <a:spcBef>
                <a:spcPts val="100"/>
              </a:spcBef>
            </a:pPr>
            <a:r>
              <a:rPr sz="5900" b="1" spc="-50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endParaRPr sz="5900">
              <a:latin typeface="Arial"/>
              <a:cs typeface="Arial"/>
            </a:endParaRPr>
          </a:p>
          <a:p>
            <a:pPr marL="12700">
              <a:lnSpc>
                <a:spcPts val="6490"/>
              </a:lnSpc>
            </a:pPr>
            <a:r>
              <a:rPr sz="5900" b="1" spc="-50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endParaRPr sz="5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64579"/>
            <a:ext cx="9144000" cy="693420"/>
          </a:xfrm>
          <a:custGeom>
            <a:avLst/>
            <a:gdLst/>
            <a:ahLst/>
            <a:cxnLst/>
            <a:rect l="l" t="t" r="r" b="b"/>
            <a:pathLst>
              <a:path w="9144000" h="693420">
                <a:moveTo>
                  <a:pt x="9144000" y="0"/>
                </a:moveTo>
                <a:lnTo>
                  <a:pt x="0" y="0"/>
                </a:lnTo>
                <a:lnTo>
                  <a:pt x="0" y="693420"/>
                </a:lnTo>
                <a:lnTo>
                  <a:pt x="9144000" y="693420"/>
                </a:lnTo>
                <a:lnTo>
                  <a:pt x="9144000" y="0"/>
                </a:lnTo>
                <a:close/>
              </a:path>
            </a:pathLst>
          </a:custGeom>
          <a:solidFill>
            <a:srgbClr val="7016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33528"/>
            <a:ext cx="2953511" cy="685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7700" y="1739900"/>
            <a:ext cx="7298055" cy="2341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6120"/>
              </a:lnSpc>
              <a:spcBef>
                <a:spcPts val="100"/>
              </a:spcBef>
            </a:pPr>
            <a:r>
              <a:rPr sz="7800" b="1" baseline="-4273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7800" b="1" spc="375" baseline="-4273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202020"/>
                </a:solidFill>
                <a:latin typeface="Arial"/>
                <a:cs typeface="Arial"/>
              </a:rPr>
              <a:t>Python</a:t>
            </a:r>
            <a:r>
              <a:rPr sz="3000" b="1" spc="-3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202020"/>
                </a:solidFill>
                <a:latin typeface="Arial"/>
                <a:cs typeface="Arial"/>
              </a:rPr>
              <a:t>Docs:</a:t>
            </a:r>
            <a:r>
              <a:rPr sz="3000" b="1" spc="-3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202020"/>
                </a:solidFill>
                <a:latin typeface="Arial"/>
                <a:cs typeface="Arial"/>
              </a:rPr>
              <a:t>https://docs.python.org</a:t>
            </a:r>
            <a:endParaRPr sz="3000">
              <a:latin typeface="Arial"/>
              <a:cs typeface="Arial"/>
            </a:endParaRPr>
          </a:p>
          <a:p>
            <a:pPr marL="38100">
              <a:lnSpc>
                <a:spcPts val="6000"/>
              </a:lnSpc>
            </a:pPr>
            <a:r>
              <a:rPr sz="7800" b="1" baseline="4273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7800" b="1" spc="375" baseline="4273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202020"/>
                </a:solidFill>
                <a:latin typeface="Arial"/>
                <a:cs typeface="Arial"/>
              </a:rPr>
              <a:t>Tkinter</a:t>
            </a:r>
            <a:r>
              <a:rPr sz="3000" b="1" spc="-2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202020"/>
                </a:solidFill>
                <a:latin typeface="Arial"/>
                <a:cs typeface="Arial"/>
              </a:rPr>
              <a:t>Guide:</a:t>
            </a:r>
            <a:r>
              <a:rPr sz="3000" b="1" spc="-25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202020"/>
                </a:solidFill>
                <a:latin typeface="Arial"/>
                <a:cs typeface="Arial"/>
              </a:rPr>
              <a:t>https://tkdocs.com</a:t>
            </a:r>
            <a:endParaRPr sz="3000">
              <a:latin typeface="Arial"/>
              <a:cs typeface="Arial"/>
            </a:endParaRPr>
          </a:p>
          <a:p>
            <a:pPr marL="38100">
              <a:lnSpc>
                <a:spcPts val="6120"/>
              </a:lnSpc>
            </a:pPr>
            <a:r>
              <a:rPr sz="7800" b="1" baseline="12820" dirty="0">
                <a:solidFill>
                  <a:srgbClr val="202020"/>
                </a:solidFill>
                <a:latin typeface="Arial"/>
                <a:cs typeface="Arial"/>
              </a:rPr>
              <a:t>.</a:t>
            </a:r>
            <a:r>
              <a:rPr sz="7800" b="1" spc="337" baseline="1282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202020"/>
                </a:solidFill>
                <a:latin typeface="Arial"/>
                <a:cs typeface="Arial"/>
              </a:rPr>
              <a:t>SQLite:</a:t>
            </a:r>
            <a:r>
              <a:rPr sz="3000" b="1" spc="-40" dirty="0">
                <a:solidFill>
                  <a:srgbClr val="202020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202020"/>
                </a:solidFill>
                <a:latin typeface="Arial"/>
                <a:cs typeface="Arial"/>
              </a:rPr>
              <a:t>https://sqlite.org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pPr marL="38100">
                <a:lnSpc>
                  <a:spcPts val="1240"/>
                </a:lnSpc>
              </a:pPr>
              <a:t>11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355205" y="6606337"/>
            <a:ext cx="1788795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/>
              <a:t>T011A/</a:t>
            </a:r>
            <a:r>
              <a:rPr spc="-25" dirty="0"/>
              <a:t> </a:t>
            </a:r>
            <a:r>
              <a:rPr dirty="0"/>
              <a:t>Template</a:t>
            </a:r>
            <a:r>
              <a:rPr spc="165" dirty="0"/>
              <a:t> </a:t>
            </a:r>
            <a:r>
              <a:rPr dirty="0"/>
              <a:t>Version</a:t>
            </a:r>
            <a:r>
              <a:rPr spc="-15" dirty="0"/>
              <a:t> </a:t>
            </a:r>
            <a:r>
              <a:rPr lang="en-US" spc="-25" dirty="0" smtClean="0"/>
              <a:t>2.3</a:t>
            </a:r>
            <a:r>
              <a:rPr spc="-25" dirty="0" smtClean="0"/>
              <a:t>.0</a:t>
            </a:r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6461" y="2516504"/>
            <a:ext cx="1753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000000"/>
                </a:solidFill>
              </a:rPr>
              <a:t>THANKS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364</Words>
  <Application>Microsoft Office PowerPoint</Application>
  <PresentationFormat>On-screen Show (4:3)</PresentationFormat>
  <Paragraphs>108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Library Management System</vt:lpstr>
      <vt:lpstr>Team Details</vt:lpstr>
      <vt:lpstr>Project Brief</vt:lpstr>
      <vt:lpstr>. Language: Python . Frontend: Tkinter (GUI Toolkit)</vt:lpstr>
      <vt:lpstr>Context Diagram (Overall Project)</vt:lpstr>
      <vt:lpstr>Entity Relationship Diagram (ERD)</vt:lpstr>
      <vt:lpstr>Data Flow Diagram (DFD)</vt:lpstr>
      <vt:lpstr>Flow Chart</vt:lpstr>
      <vt:lpstr>Use Case Diagram</vt:lpstr>
      <vt:lpstr>. .</vt:lpstr>
      <vt:lpstr>References</vt:lpstr>
      <vt:lpstr>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cp:lastModifiedBy>Deepak Saini</cp:lastModifiedBy>
  <cp:revision>2</cp:revision>
  <dcterms:created xsi:type="dcterms:W3CDTF">2025-04-26T14:01:36Z</dcterms:created>
  <dcterms:modified xsi:type="dcterms:W3CDTF">2025-05-02T14:03:27Z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2025-04-26T00:00:00Z</vt:filetime>
  </property>
  <property fmtid="{D5CDD505-2E9C-101B-9397-08002B2CF9AE}" pid="5" name="Producer">
    <vt:lpwstr>3.0.24 (5.1.10) </vt:lpwstr>
  </property>
</Properties>
</file>